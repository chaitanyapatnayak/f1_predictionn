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question. We analysed every Formula 1 World Championship race from 1950 to 2025 to test what really decides a Grand Prix: the car, the driver, qualifying, the circuit or the era. The study covers data preprocessing, exploratory analysis, 13 hypothesis tests including three A/B tests, and a regression model that predicts finishing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1 is a multi-billion-dollar sport where decisions rest on beliefs that are rarely tested. Our four objectives: understand what drives results, test the beliefs formally, evaluate whether regulation changes worked using A/B tests, and build a regression model that predicts finishing position using only information available before the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the Jolpica F1 open database, the successor to the Ergast API. It is relational: 11 linked tables. After cleaning we have 1,138 races and 25,387 driver race entries covering 711 drivers and 172 teams, plus about 11,700 pit stops from 2011. The 2026 season is excluded because it is still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followed one rule: every decision has a reason. We joined eight tables and verified that no rows were lost. We removed the Indianapolis 500, which was a separate American race, and the unfinished 2026 season. Missing finishing times were not imputed because they are missing for a reason: the driver retired. Outliers that were genuine were kept. We engineered a retirement-adjusted order-change metric used for the overtaking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showed three things. The calendar tripled while grids stabilised at about 20 cars, so modern seasons give far more data. Success is highly concentrated in a few drivers and teams, which we test formally in Q4. And the starting grid is the variable most strongly correlated with the finishing position, which motivates both Q1 and the regression model. Drivers are also younger now: median age fell from 31 to about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13 hypotheses, each stating H0 and H1 and reporting both a p-value and an effect size. With tens of thousands of rows, tiny effects become significant, so effect size decides practical importance. The three shaded rows are A/B tests. Q11 is the headline policy test: the 2022 ground-effect rules increased position changes by 13 percent (Welch t-test p = 0.023, confirmed by Mann–Whitney, Cohen's d = 0.33, small). Q2 shows the hybrid era did not significantly change pole conversion (49% vs 54%, p = 0.35). Several popular beliefs were rejected: no home advantage, no hybrid pole premium, and Monaco's pole converts no more often than elsewhere. In Q10 the Holm correction removed two false positives, Britain and Italy.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multiple linear regression because the target, finishing position, is numeric and the relationships are roughly linear, and because coefficients can be explained: each grid place is worth about 0.4 finishing places, and each place of team form about 0.4. Features use only pre-race information: grid, team form over the previous three races, experience, age, street circuit, home race and era. We trained on 2014 to 2023 and tested on the unseen 2024 and 2025 seasons. Test R squared is 0.60 and the average error is 2.5 places, 8 percent better than the finish-equals-grid baseline on MAE and 15 percent on RMSE. Random Forest and Gradient Boosting did not do better, so the simpler model wins. We checked all assumptions: dropped driver form because its VIF was 5.4, used race-clustered robust standard errors because drivers in the same race are not independent, and checked residuals.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summarises the study. Top row: five key numbers. Below: the rise of single-team dominance since 1980, pole conversion by era, the reliability revolution, the car-versus-driver split, the experience and age effects, and what drives the regression prediction. Across the notebook there are 22 charts covering about 20 chart types, plus an interactive Plotly season explorer and a world map of circuits. The cleaned data is also exported for Power BI or Tableau.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findings. The car explains 13.6 times more of the results than the driver. Pole position wins about half of races, and the hybrid era did not change that. The 2022 regulations increased overtaking by 13 percent, a significant but small effect that faded after 2023. Dominance has been rising since 1980, with only about two effective winning teams in the 2020s. Drivers peak at 28 to 30 because experience helps while age hurts. And there is no home advantage. Also worth mentioning: reliability rose from 50 to 86 percent finishes, and street circuits carry 41 percent more crash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conclusion: a Formula 1 result is decided mostly before the race begins, by the car and the qualifying position, while race day adds roughly a third of unpredictable variation. We are honest about limitations: this is observational data, so era comparisons are natural experiments rather than controlled ones; car and driver quality are partly confounded; and the source lacks weather, safety-car and tyre information, which would explain part of the remaining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would turn the study into a live tool. Add weather, safety-car and tyre data from the FastF1 library. Use qualifying lap-time gaps instead of grid rank. Move to ranking models plus a retirement-risk classifier to simulate whole races. Build an all-time, era-adjusted driver rating from the teammate model. Use causal methods such as difference-in-differences for regulation effects. And publish live forecasts after every qualifying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comes from the Jolpica F1 open database. Statistical methods follow standard references: the Herfindahl–Hirschman Index from competition regulation, the Bradley–Terry model for paired comparisons, and Cohen's effect-size conventions. Analysis was done in Python with pandas, statsmodels and scikit-learn.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3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5151E"/>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0081"/>
            <a:ext cx="10566400" cy="4135119"/>
          </a:xfrm>
          <a:prstGeom prst="rect">
            <a:avLst/>
          </a:prstGeom>
          <a:noFill/>
          <a:ln/>
        </p:spPr>
        <p:txBody>
          <a:bodyPr wrap="square" lIns="0" tIns="0" rIns="0" bIns="0" rtlCol="0" anchor="t"/>
          <a:lstStyle>
            <a:lvl1pPr algn="l" indent="0" marL="0">
              <a:lnSpc>
                <a:spcPct val="140000"/>
              </a:lnSpc>
              <a:buNone/>
              <a:defRPr lang="en-US" sz="1600" dirty="0">
                <a:solidFill>
                  <a:srgbClr val="15151E"/>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3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5151E"/>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0081"/>
            <a:ext cx="10566400" cy="4135119"/>
          </a:xfrm>
          <a:prstGeom prst="rect">
            <a:avLst/>
          </a:prstGeom>
          <a:noFill/>
          <a:ln/>
        </p:spPr>
        <p:txBody>
          <a:bodyPr wrap="square" lIns="0" tIns="0" rIns="0" bIns="0" rtlCol="0" anchor="t"/>
          <a:lstStyle>
            <a:lvl1pPr algn="l" indent="0" marL="0">
              <a:lnSpc>
                <a:spcPct val="140000"/>
              </a:lnSpc>
              <a:buNone/>
              <a:defRPr lang="en-US" sz="1600" dirty="0">
                <a:solidFill>
                  <a:srgbClr val="15151E"/>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51E"/>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0600"/>
          </a:soli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5A4E"/>
                </a:solidFill>
                <a:latin typeface="Public Sans" pitchFamily="34" charset="0"/>
                <a:ea typeface="Public Sans" pitchFamily="34" charset="-122"/>
                <a:cs typeface="Public Sans" pitchFamily="34" charset="-120"/>
              </a:rPr>
              <a:t>23CSE351 · FOUNDATIONS OF DATA SCIENCE · CASE STUDY</a:t>
            </a:r>
            <a:endParaRPr lang="en-US" sz="1200" dirty="0"/>
          </a:p>
        </p:txBody>
      </p:sp>
      <p:sp>
        <p:nvSpPr>
          <p:cNvPr id="4" name="Text 2"/>
          <p:cNvSpPr/>
          <p:nvPr>
            <p:ph type="title"/>
          </p:nvPr>
        </p:nvSpPr>
        <p:spPr>
          <a:xfrm>
            <a:off x="812800" y="120396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3EF"/>
                </a:solidFill>
                <a:latin typeface="Oswald" pitchFamily="34" charset="0"/>
                <a:ea typeface="Oswald" pitchFamily="34" charset="-122"/>
                <a:cs typeface="Oswald" pitchFamily="34" charset="-120"/>
              </a:rPr>
              <a:t>WHAT REALLY DECIDES</a:t>
            </a:r>
            <a:endParaRPr lang="en-US" sz="6000" dirty="0"/>
          </a:p>
          <a:p>
            <a:pPr algn="l" indent="0" marL="0">
              <a:lnSpc>
                <a:spcPts val="6300"/>
              </a:lnSpc>
              <a:buNone/>
            </a:pPr>
            <a:r>
              <a:rPr lang="en-US" sz="6000" b="1" i="0" dirty="0">
                <a:solidFill>
                  <a:srgbClr val="F4F3EF"/>
                </a:solidFill>
                <a:latin typeface="Oswald" pitchFamily="34" charset="0"/>
                <a:ea typeface="Oswald" pitchFamily="34" charset="-122"/>
                <a:cs typeface="Oswald" pitchFamily="34" charset="-120"/>
              </a:rPr>
              <a:t>A GRAND PRIX?</a:t>
            </a:r>
            <a:endParaRPr lang="en-US" sz="6000" dirty="0"/>
          </a:p>
        </p:txBody>
      </p:sp>
      <p:sp>
        <p:nvSpPr>
          <p:cNvPr id="5" name="Text 3"/>
          <p:cNvSpPr/>
          <p:nvPr/>
        </p:nvSpPr>
        <p:spPr>
          <a:xfrm>
            <a:off x="812800" y="2981960"/>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CCD6"/>
                </a:solidFill>
                <a:latin typeface="Public Sans" pitchFamily="34" charset="0"/>
                <a:ea typeface="Public Sans" pitchFamily="34" charset="-122"/>
                <a:cs typeface="Public Sans" pitchFamily="34" charset="-120"/>
              </a:rPr>
              <a:t>A statistical and predictive study of 75 years of Formula 1, 1950–2025</a:t>
            </a:r>
            <a:endParaRPr lang="en-US" sz="2200" dirty="0"/>
          </a:p>
        </p:txBody>
      </p:sp>
      <p:sp>
        <p:nvSpPr>
          <p:cNvPr id="6" name="Shape 4"/>
          <p:cNvSpPr/>
          <p:nvPr/>
        </p:nvSpPr>
        <p:spPr>
          <a:xfrm>
            <a:off x="812800" y="3995420"/>
            <a:ext cx="6350000" cy="0"/>
          </a:xfrm>
          <a:prstGeom prst="line">
            <a:avLst/>
          </a:prstGeom>
          <a:noFill/>
          <a:ln w="10160">
            <a:solidFill>
              <a:srgbClr val="FAF9F5">
                <a:alpha val="22000"/>
              </a:srgbClr>
            </a:solidFill>
            <a:prstDash val="solid"/>
          </a:ln>
        </p:spPr>
      </p:sp>
      <p:sp>
        <p:nvSpPr>
          <p:cNvPr id="7" name="Shape 5"/>
          <p:cNvSpPr/>
          <p:nvPr/>
        </p:nvSpPr>
        <p:spPr>
          <a:xfrm>
            <a:off x="817880" y="3990340"/>
            <a:ext cx="0" cy="2054860"/>
          </a:xfrm>
          <a:prstGeom prst="line">
            <a:avLst/>
          </a:prstGeom>
          <a:noFill/>
          <a:ln w="10160">
            <a:solidFill>
              <a:srgbClr val="FAF9F5">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86460" y="4064000"/>
          <a:ext cx="6212840" cy="1917700"/>
        </p:xfrm>
        <a:graphic>
          <a:graphicData uri="http://schemas.openxmlformats.org/drawingml/2006/table">
            <a:tbl>
              <a:tblPr/>
              <a:tblGrid>
                <a:gridCol w="3417062"/>
                <a:gridCol w="2795778"/>
              </a:tblGrid>
              <a:tr h="383540">
                <a:tc>
                  <a:txBody>
                    <a:bodyPr/>
                    <a:lstStyle/>
                    <a:p>
                      <a:pPr indent="0" marL="0">
                        <a:lnSpc>
                          <a:spcPts val="1960"/>
                        </a:lnSpc>
                        <a:buNone/>
                      </a:pPr>
                      <a:r>
                        <a:rPr lang="en-US" sz="1400" b="1" dirty="0">
                          <a:solidFill>
                            <a:srgbClr val="FF5A4E"/>
                          </a:solidFill>
                          <a:latin typeface="Public Sans" pitchFamily="34" charset="0"/>
                          <a:ea typeface="Public Sans" pitchFamily="34" charset="-122"/>
                          <a:cs typeface="Public Sans" pitchFamily="34" charset="-120"/>
                        </a:rPr>
                        <a:t>Team member</a:t>
                      </a:r>
                      <a:endParaRPr lang="en-US" sz="1400" dirty="0">
                        <a:latin typeface="Public Sans" charset="0"/>
                        <a:ea typeface="Public Sans" charset="0"/>
                        <a:cs typeface="Public Sans" charset="0"/>
                      </a:endParaRPr>
                    </a:p>
                  </a:txBody>
                  <a:tcPr marL="62230" marR="62230" marT="62230" marB="62230" anchor="t">
                    <a:lnL w="0" cap="flat" cmpd="sng" algn="ctr">
                      <a:noFill/>
                    </a:lnL>
                    <a:lnR w="12700" cap="flat" cmpd="sng" algn="ctr">
                      <a:solidFill>
                        <a:srgbClr val="55555B"/>
                      </a:solidFill>
                      <a:prstDash val="solid"/>
                      <a:round/>
                      <a:headEnd type="none" w="med" len="med"/>
                      <a:tailEnd type="none" w="med" len="med"/>
                    </a:lnR>
                    <a:lnT w="0" cap="flat" cmpd="sng" algn="ctr">
                      <a:noFill/>
                    </a:lnT>
                    <a:lnB w="12700" cap="flat" cmpd="sng" algn="ctr">
                      <a:solidFill>
                        <a:srgbClr val="55555B"/>
                      </a:solidFill>
                      <a:prstDash val="solid"/>
                      <a:round/>
                      <a:headEnd type="none" w="med" len="med"/>
                      <a:tailEnd type="none" w="med" len="med"/>
                    </a:lnB>
                    <a:solidFill>
                      <a:srgbClr val="27272F"/>
                    </a:solidFill>
                  </a:tcPr>
                </a:tc>
                <a:tc>
                  <a:txBody>
                    <a:bodyPr/>
                    <a:lstStyle/>
                    <a:p>
                      <a:pPr indent="0" marL="0">
                        <a:lnSpc>
                          <a:spcPts val="1960"/>
                        </a:lnSpc>
                        <a:buNone/>
                      </a:pPr>
                      <a:r>
                        <a:rPr lang="en-US" sz="1400" b="1" dirty="0">
                          <a:solidFill>
                            <a:srgbClr val="FF5A4E"/>
                          </a:solidFill>
                          <a:latin typeface="Public Sans" pitchFamily="34" charset="0"/>
                          <a:ea typeface="Public Sans" pitchFamily="34" charset="-122"/>
                          <a:cs typeface="Public Sans" pitchFamily="34" charset="-120"/>
                        </a:rPr>
                        <a:t>Register number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55555B"/>
                      </a:solidFill>
                      <a:prstDash val="solid"/>
                      <a:round/>
                      <a:headEnd type="none" w="med" len="med"/>
                      <a:tailEnd type="none" w="med" len="med"/>
                    </a:lnL>
                    <a:lnR w="12700" cap="flat" cmpd="sng" algn="ctr">
                      <a:solidFill>
                        <a:srgbClr val="55555B"/>
                      </a:solidFill>
                      <a:prstDash val="solid"/>
                      <a:round/>
                      <a:headEnd type="none" w="med" len="med"/>
                      <a:tailEnd type="none" w="med" len="med"/>
                    </a:lnR>
                    <a:lnT w="0" cap="flat" cmpd="sng" algn="ctr">
                      <a:noFill/>
                    </a:lnT>
                    <a:lnB w="12700" cap="flat" cmpd="sng" algn="ctr">
                      <a:solidFill>
                        <a:srgbClr val="55555B"/>
                      </a:solidFill>
                      <a:prstDash val="solid"/>
                      <a:round/>
                      <a:headEnd type="none" w="med" len="med"/>
                      <a:tailEnd type="none" w="med" len="med"/>
                    </a:lnB>
                    <a:solidFill>
                      <a:srgbClr val="27272F"/>
                    </a:solidFill>
                  </a:tcPr>
                </a:tc>
              </a:tr>
              <a:tr h="383540">
                <a:tc>
                  <a:txBody>
                    <a:bodyPr/>
                    <a:lstStyle/>
                    <a:p>
                      <a:pPr indent="0" marL="0">
                        <a:lnSpc>
                          <a:spcPts val="1960"/>
                        </a:lnSpc>
                        <a:buNone/>
                      </a:pPr>
                      <a:r>
                        <a:rPr lang="en-US" sz="1400" dirty="0">
                          <a:solidFill>
                            <a:srgbClr val="F4F3EF"/>
                          </a:solidFill>
                          <a:latin typeface="Public Sans" pitchFamily="34" charset="0"/>
                          <a:ea typeface="Public Sans" pitchFamily="34" charset="-122"/>
                          <a:cs typeface="Public Sans" pitchFamily="34" charset="-120"/>
                        </a:rPr>
                        <a:t>R. Meghapranay</a:t>
                      </a:r>
                      <a:endParaRPr lang="en-US" sz="1400" dirty="0">
                        <a:latin typeface="Public Sans" charset="0"/>
                        <a:ea typeface="Public Sans" charset="0"/>
                        <a:cs typeface="Public Sans" charset="0"/>
                      </a:endParaRPr>
                    </a:p>
                  </a:txBody>
                  <a:tcPr marL="62230" marR="62230" marT="62230" marB="62230" anchor="t">
                    <a:lnL w="0" cap="flat" cmpd="sng" algn="ctr">
                      <a:noFill/>
                    </a:lnL>
                    <a:lnR w="12700" cap="flat" cmpd="sng" algn="ctr">
                      <a:solidFill>
                        <a:srgbClr val="47474D"/>
                      </a:solidFill>
                      <a:prstDash val="solid"/>
                      <a:round/>
                      <a:headEnd type="none" w="med" len="med"/>
                      <a:tailEnd type="none" w="med" len="med"/>
                    </a:lnR>
                    <a:lnT w="12700" cap="flat" cmpd="sng" algn="ctr">
                      <a:solidFill>
                        <a:srgbClr val="55555B"/>
                      </a:solidFill>
                      <a:prstDash val="solid"/>
                      <a:round/>
                      <a:headEnd type="none" w="med" len="med"/>
                      <a:tailEnd type="none" w="med" len="med"/>
                    </a:lnT>
                    <a:lnB w="12700" cap="flat" cmpd="sng" algn="ctr">
                      <a:solidFill>
                        <a:srgbClr val="47474D"/>
                      </a:solidFill>
                      <a:prstDash val="solid"/>
                      <a:round/>
                      <a:headEnd type="none" w="med" len="med"/>
                      <a:tailEnd type="none" w="med" len="med"/>
                    </a:lnB>
                  </a:tcPr>
                </a:tc>
                <a:tc>
                  <a:txBody>
                    <a:bodyPr/>
                    <a:lstStyle/>
                    <a:p>
                      <a:pPr indent="0" marL="0">
                        <a:lnSpc>
                          <a:spcPts val="1960"/>
                        </a:lnSpc>
                        <a:buNone/>
                      </a:pPr>
                      <a:r>
                        <a:rPr lang="en-US" sz="1400" dirty="0">
                          <a:solidFill>
                            <a:srgbClr val="F4F3EF"/>
                          </a:solidFill>
                          <a:latin typeface="Public Sans" pitchFamily="34" charset="0"/>
                          <a:ea typeface="Public Sans" pitchFamily="34" charset="-122"/>
                          <a:cs typeface="Public Sans" pitchFamily="34" charset="-120"/>
                        </a:rPr>
                        <a:t>CB.SC.U4CSE24440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47474D"/>
                      </a:solidFill>
                      <a:prstDash val="solid"/>
                      <a:round/>
                      <a:headEnd type="none" w="med" len="med"/>
                      <a:tailEnd type="none" w="med" len="med"/>
                    </a:lnL>
                    <a:lnR w="12700" cap="flat" cmpd="sng" algn="ctr">
                      <a:solidFill>
                        <a:srgbClr val="47474D"/>
                      </a:solidFill>
                      <a:prstDash val="solid"/>
                      <a:round/>
                      <a:headEnd type="none" w="med" len="med"/>
                      <a:tailEnd type="none" w="med" len="med"/>
                    </a:lnR>
                    <a:lnT w="12700" cap="flat" cmpd="sng" algn="ctr">
                      <a:solidFill>
                        <a:srgbClr val="55555B"/>
                      </a:solidFill>
                      <a:prstDash val="solid"/>
                      <a:round/>
                      <a:headEnd type="none" w="med" len="med"/>
                      <a:tailEnd type="none" w="med" len="med"/>
                    </a:lnT>
                    <a:lnB w="12700" cap="flat" cmpd="sng" algn="ctr">
                      <a:solidFill>
                        <a:srgbClr val="47474D"/>
                      </a:solidFill>
                      <a:prstDash val="solid"/>
                      <a:round/>
                      <a:headEnd type="none" w="med" len="med"/>
                      <a:tailEnd type="none" w="med" len="med"/>
                    </a:lnB>
                  </a:tcPr>
                </a:tc>
              </a:tr>
              <a:tr h="383540">
                <a:tc>
                  <a:txBody>
                    <a:bodyPr/>
                    <a:lstStyle/>
                    <a:p>
                      <a:pPr indent="0" marL="0">
                        <a:lnSpc>
                          <a:spcPts val="1960"/>
                        </a:lnSpc>
                        <a:buNone/>
                      </a:pPr>
                      <a:r>
                        <a:rPr lang="en-US" sz="1400" dirty="0">
                          <a:solidFill>
                            <a:srgbClr val="F4F3EF"/>
                          </a:solidFill>
                          <a:latin typeface="Public Sans" pitchFamily="34" charset="0"/>
                          <a:ea typeface="Public Sans" pitchFamily="34" charset="-122"/>
                          <a:cs typeface="Public Sans" pitchFamily="34" charset="-120"/>
                        </a:rPr>
                        <a:t>P. Krishna Chaitanaya</a:t>
                      </a:r>
                      <a:endParaRPr lang="en-US" sz="1400" dirty="0">
                        <a:latin typeface="Public Sans" charset="0"/>
                        <a:ea typeface="Public Sans" charset="0"/>
                        <a:cs typeface="Public Sans" charset="0"/>
                      </a:endParaRPr>
                    </a:p>
                  </a:txBody>
                  <a:tcPr marL="62230" marR="62230" marT="62230" marB="62230" anchor="t">
                    <a:lnL w="0" cap="flat" cmpd="sng" algn="ctr">
                      <a:noFill/>
                    </a:lnL>
                    <a:lnR w="12700" cap="flat" cmpd="sng" algn="ctr">
                      <a:solidFill>
                        <a:srgbClr val="47474D"/>
                      </a:solidFill>
                      <a:prstDash val="solid"/>
                      <a:round/>
                      <a:headEnd type="none" w="med" len="med"/>
                      <a:tailEnd type="none" w="med" len="med"/>
                    </a:lnR>
                    <a:lnT w="12700" cap="flat" cmpd="sng" algn="ctr">
                      <a:solidFill>
                        <a:srgbClr val="47474D"/>
                      </a:solidFill>
                      <a:prstDash val="solid"/>
                      <a:round/>
                      <a:headEnd type="none" w="med" len="med"/>
                      <a:tailEnd type="none" w="med" len="med"/>
                    </a:lnT>
                    <a:lnB w="12700" cap="flat" cmpd="sng" algn="ctr">
                      <a:solidFill>
                        <a:srgbClr val="47474D"/>
                      </a:solidFill>
                      <a:prstDash val="solid"/>
                      <a:round/>
                      <a:headEnd type="none" w="med" len="med"/>
                      <a:tailEnd type="none" w="med" len="med"/>
                    </a:lnB>
                  </a:tcPr>
                </a:tc>
                <a:tc>
                  <a:txBody>
                    <a:bodyPr/>
                    <a:lstStyle/>
                    <a:p>
                      <a:pPr indent="0" marL="0">
                        <a:lnSpc>
                          <a:spcPts val="1960"/>
                        </a:lnSpc>
                        <a:buNone/>
                      </a:pPr>
                      <a:r>
                        <a:rPr lang="en-US" sz="1400" dirty="0">
                          <a:solidFill>
                            <a:srgbClr val="F4F3EF"/>
                          </a:solidFill>
                          <a:latin typeface="Public Sans" pitchFamily="34" charset="0"/>
                          <a:ea typeface="Public Sans" pitchFamily="34" charset="-122"/>
                          <a:cs typeface="Public Sans" pitchFamily="34" charset="-120"/>
                        </a:rPr>
                        <a:t>CB.SC.U4CSES24436</a:t>
                      </a:r>
                      <a:endParaRPr lang="en-US" sz="1400" dirty="0">
                        <a:latin typeface="Public Sans" charset="0"/>
                        <a:ea typeface="Public Sans" charset="0"/>
                        <a:cs typeface="Public Sans" charset="0"/>
                      </a:endParaRPr>
                    </a:p>
                  </a:txBody>
                  <a:tcPr marL="62230" marR="62230" marT="62230" marB="62230" anchor="t">
                    <a:lnL w="12700" cap="flat" cmpd="sng" algn="ctr">
                      <a:solidFill>
                        <a:srgbClr val="47474D"/>
                      </a:solidFill>
                      <a:prstDash val="solid"/>
                      <a:round/>
                      <a:headEnd type="none" w="med" len="med"/>
                      <a:tailEnd type="none" w="med" len="med"/>
                    </a:lnL>
                    <a:lnR w="12700" cap="flat" cmpd="sng" algn="ctr">
                      <a:solidFill>
                        <a:srgbClr val="47474D"/>
                      </a:solidFill>
                      <a:prstDash val="solid"/>
                      <a:round/>
                      <a:headEnd type="none" w="med" len="med"/>
                      <a:tailEnd type="none" w="med" len="med"/>
                    </a:lnR>
                    <a:lnT w="12700" cap="flat" cmpd="sng" algn="ctr">
                      <a:solidFill>
                        <a:srgbClr val="47474D"/>
                      </a:solidFill>
                      <a:prstDash val="solid"/>
                      <a:round/>
                      <a:headEnd type="none" w="med" len="med"/>
                      <a:tailEnd type="none" w="med" len="med"/>
                    </a:lnT>
                    <a:lnB w="12700" cap="flat" cmpd="sng" algn="ctr">
                      <a:solidFill>
                        <a:srgbClr val="47474D"/>
                      </a:solidFill>
                      <a:prstDash val="solid"/>
                      <a:round/>
                      <a:headEnd type="none" w="med" len="med"/>
                      <a:tailEnd type="none" w="med" len="med"/>
                    </a:lnB>
                  </a:tcPr>
                </a:tc>
              </a:tr>
              <a:tr h="383540">
                <a:tc>
                  <a:txBody>
                    <a:bodyPr/>
                    <a:lstStyle/>
                    <a:p>
                      <a:pPr indent="0" marL="0">
                        <a:lnSpc>
                          <a:spcPts val="1960"/>
                        </a:lnSpc>
                        <a:buNone/>
                      </a:pPr>
                      <a:r>
                        <a:rPr lang="en-US" sz="1400" dirty="0">
                          <a:solidFill>
                            <a:srgbClr val="F4F3EF"/>
                          </a:solidFill>
                          <a:latin typeface="Public Sans" pitchFamily="34" charset="0"/>
                          <a:ea typeface="Public Sans" pitchFamily="34" charset="-122"/>
                          <a:cs typeface="Public Sans" pitchFamily="34" charset="-120"/>
                        </a:rPr>
                        <a:t>M. Rishit Kumar</a:t>
                      </a:r>
                      <a:endParaRPr lang="en-US" sz="1400" dirty="0">
                        <a:latin typeface="Public Sans" charset="0"/>
                        <a:ea typeface="Public Sans" charset="0"/>
                        <a:cs typeface="Public Sans" charset="0"/>
                      </a:endParaRPr>
                    </a:p>
                  </a:txBody>
                  <a:tcPr marL="62230" marR="62230" marT="62230" marB="62230" anchor="t">
                    <a:lnL w="0" cap="flat" cmpd="sng" algn="ctr">
                      <a:noFill/>
                    </a:lnL>
                    <a:lnR w="12700" cap="flat" cmpd="sng" algn="ctr">
                      <a:solidFill>
                        <a:srgbClr val="47474D"/>
                      </a:solidFill>
                      <a:prstDash val="solid"/>
                      <a:round/>
                      <a:headEnd type="none" w="med" len="med"/>
                      <a:tailEnd type="none" w="med" len="med"/>
                    </a:lnR>
                    <a:lnT w="12700" cap="flat" cmpd="sng" algn="ctr">
                      <a:solidFill>
                        <a:srgbClr val="47474D"/>
                      </a:solidFill>
                      <a:prstDash val="solid"/>
                      <a:round/>
                      <a:headEnd type="none" w="med" len="med"/>
                      <a:tailEnd type="none" w="med" len="med"/>
                    </a:lnT>
                    <a:lnB w="12700" cap="flat" cmpd="sng" algn="ctr">
                      <a:solidFill>
                        <a:srgbClr val="47474D"/>
                      </a:solidFill>
                      <a:prstDash val="solid"/>
                      <a:round/>
                      <a:headEnd type="none" w="med" len="med"/>
                      <a:tailEnd type="none" w="med" len="med"/>
                    </a:lnB>
                  </a:tcPr>
                </a:tc>
                <a:tc>
                  <a:txBody>
                    <a:bodyPr/>
                    <a:lstStyle/>
                    <a:p>
                      <a:pPr indent="0" marL="0">
                        <a:lnSpc>
                          <a:spcPts val="1960"/>
                        </a:lnSpc>
                        <a:buNone/>
                      </a:pPr>
                      <a:r>
                        <a:rPr lang="en-US" sz="1400" dirty="0">
                          <a:solidFill>
                            <a:srgbClr val="F4F3EF"/>
                          </a:solidFill>
                          <a:latin typeface="Public Sans" pitchFamily="34" charset="0"/>
                          <a:ea typeface="Public Sans" pitchFamily="34" charset="-122"/>
                          <a:cs typeface="Public Sans" pitchFamily="34" charset="-120"/>
                        </a:rPr>
                        <a:t>CB.SC.U4CSE24428</a:t>
                      </a:r>
                      <a:endParaRPr lang="en-US" sz="1400" dirty="0">
                        <a:latin typeface="Public Sans" charset="0"/>
                        <a:ea typeface="Public Sans" charset="0"/>
                        <a:cs typeface="Public Sans" charset="0"/>
                      </a:endParaRPr>
                    </a:p>
                  </a:txBody>
                  <a:tcPr marL="62230" marR="62230" marT="62230" marB="62230" anchor="t">
                    <a:lnL w="12700" cap="flat" cmpd="sng" algn="ctr">
                      <a:solidFill>
                        <a:srgbClr val="47474D"/>
                      </a:solidFill>
                      <a:prstDash val="solid"/>
                      <a:round/>
                      <a:headEnd type="none" w="med" len="med"/>
                      <a:tailEnd type="none" w="med" len="med"/>
                    </a:lnL>
                    <a:lnR w="12700" cap="flat" cmpd="sng" algn="ctr">
                      <a:solidFill>
                        <a:srgbClr val="47474D"/>
                      </a:solidFill>
                      <a:prstDash val="solid"/>
                      <a:round/>
                      <a:headEnd type="none" w="med" len="med"/>
                      <a:tailEnd type="none" w="med" len="med"/>
                    </a:lnR>
                    <a:lnT w="12700" cap="flat" cmpd="sng" algn="ctr">
                      <a:solidFill>
                        <a:srgbClr val="47474D"/>
                      </a:solidFill>
                      <a:prstDash val="solid"/>
                      <a:round/>
                      <a:headEnd type="none" w="med" len="med"/>
                      <a:tailEnd type="none" w="med" len="med"/>
                    </a:lnT>
                    <a:lnB w="12700" cap="flat" cmpd="sng" algn="ctr">
                      <a:solidFill>
                        <a:srgbClr val="47474D"/>
                      </a:solidFill>
                      <a:prstDash val="solid"/>
                      <a:round/>
                      <a:headEnd type="none" w="med" len="med"/>
                      <a:tailEnd type="none" w="med" len="med"/>
                    </a:lnB>
                  </a:tcPr>
                </a:tc>
              </a:tr>
              <a:tr h="383540">
                <a:tc>
                  <a:txBody>
                    <a:bodyPr/>
                    <a:lstStyle/>
                    <a:p>
                      <a:pPr indent="0" marL="0">
                        <a:lnSpc>
                          <a:spcPts val="1960"/>
                        </a:lnSpc>
                        <a:buNone/>
                      </a:pPr>
                      <a:r>
                        <a:rPr lang="en-US" sz="1400" dirty="0">
                          <a:solidFill>
                            <a:srgbClr val="F4F3EF"/>
                          </a:solidFill>
                          <a:latin typeface="Public Sans" pitchFamily="34" charset="0"/>
                          <a:ea typeface="Public Sans" pitchFamily="34" charset="-122"/>
                          <a:cs typeface="Public Sans" pitchFamily="34" charset="-120"/>
                        </a:rPr>
                        <a:t>K. Aditya</a:t>
                      </a:r>
                      <a:endParaRPr lang="en-US" sz="1400" dirty="0">
                        <a:latin typeface="Public Sans" charset="0"/>
                        <a:ea typeface="Public Sans" charset="0"/>
                        <a:cs typeface="Public Sans" charset="0"/>
                      </a:endParaRPr>
                    </a:p>
                  </a:txBody>
                  <a:tcPr marL="62230" marR="62230" marT="62230" marB="62230" anchor="t">
                    <a:lnL w="0" cap="flat" cmpd="sng" algn="ctr">
                      <a:noFill/>
                    </a:lnL>
                    <a:lnR w="12700" cap="flat" cmpd="sng" algn="ctr">
                      <a:solidFill>
                        <a:srgbClr val="47474D"/>
                      </a:solidFill>
                      <a:prstDash val="solid"/>
                      <a:round/>
                      <a:headEnd type="none" w="med" len="med"/>
                      <a:tailEnd type="none" w="med" len="med"/>
                    </a:lnR>
                    <a:lnT w="12700" cap="flat" cmpd="sng" algn="ctr">
                      <a:solidFill>
                        <a:srgbClr val="47474D"/>
                      </a:solidFill>
                      <a:prstDash val="solid"/>
                      <a:round/>
                      <a:headEnd type="none" w="med" len="med"/>
                      <a:tailEnd type="none" w="med" len="med"/>
                    </a:lnT>
                    <a:lnB w="12700" cap="flat" cmpd="sng" algn="ctr">
                      <a:solidFill>
                        <a:srgbClr val="47474D"/>
                      </a:solidFill>
                      <a:prstDash val="solid"/>
                      <a:round/>
                      <a:headEnd type="none" w="med" len="med"/>
                      <a:tailEnd type="none" w="med" len="med"/>
                    </a:lnB>
                  </a:tcPr>
                </a:tc>
                <a:tc>
                  <a:txBody>
                    <a:bodyPr/>
                    <a:lstStyle/>
                    <a:p>
                      <a:pPr indent="0" marL="0">
                        <a:lnSpc>
                          <a:spcPts val="1960"/>
                        </a:lnSpc>
                        <a:buNone/>
                      </a:pPr>
                      <a:r>
                        <a:rPr lang="en-US" sz="1400" dirty="0">
                          <a:solidFill>
                            <a:srgbClr val="F4F3EF"/>
                          </a:solidFill>
                          <a:latin typeface="Public Sans" pitchFamily="34" charset="0"/>
                          <a:ea typeface="Public Sans" pitchFamily="34" charset="-122"/>
                          <a:cs typeface="Public Sans" pitchFamily="34" charset="-120"/>
                        </a:rPr>
                        <a:t>CB.SC.U4CSE24423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47474D"/>
                      </a:solidFill>
                      <a:prstDash val="solid"/>
                      <a:round/>
                      <a:headEnd type="none" w="med" len="med"/>
                      <a:tailEnd type="none" w="med" len="med"/>
                    </a:lnL>
                    <a:lnR w="12700" cap="flat" cmpd="sng" algn="ctr">
                      <a:solidFill>
                        <a:srgbClr val="47474D"/>
                      </a:solidFill>
                      <a:prstDash val="solid"/>
                      <a:round/>
                      <a:headEnd type="none" w="med" len="med"/>
                      <a:tailEnd type="none" w="med" len="med"/>
                    </a:lnR>
                    <a:lnT w="12700" cap="flat" cmpd="sng" algn="ctr">
                      <a:solidFill>
                        <a:srgbClr val="47474D"/>
                      </a:solidFill>
                      <a:prstDash val="solid"/>
                      <a:round/>
                      <a:headEnd type="none" w="med" len="med"/>
                      <a:tailEnd type="none" w="med" len="med"/>
                    </a:lnT>
                    <a:lnB w="12700" cap="flat" cmpd="sng" algn="ctr">
                      <a:solidFill>
                        <a:srgbClr val="47474D"/>
                      </a:solidFill>
                      <a:prstDash val="solid"/>
                      <a:round/>
                      <a:headEnd type="none" w="med" len="med"/>
                      <a:tailEnd type="none" w="med" len="med"/>
                    </a:lnB>
                  </a:tcPr>
                </a:tc>
              </a:tr>
            </a:tbl>
          </a:graphicData>
        </a:graphic>
      </p:graphicFrame>
      <p:sp>
        <p:nvSpPr>
          <p:cNvPr id="9" name="Text 6"/>
          <p:cNvSpPr/>
          <p:nvPr/>
        </p:nvSpPr>
        <p:spPr>
          <a:xfrm>
            <a:off x="7978140" y="5476240"/>
            <a:ext cx="3401060" cy="5943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C9CCD6"/>
                </a:solidFill>
                <a:latin typeface="Public Sans" pitchFamily="34" charset="0"/>
                <a:ea typeface="Public Sans" pitchFamily="34" charset="-122"/>
                <a:cs typeface="Public Sans" pitchFamily="34" charset="-120"/>
              </a:rPr>
              <a:t>Department of Computer Science and Engineering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00500"/>
                </a:solidFill>
                <a:latin typeface="Public Sans" pitchFamily="34" charset="0"/>
                <a:ea typeface="Public Sans" pitchFamily="34" charset="-122"/>
                <a:cs typeface="Public Sans" pitchFamily="34" charset="-120"/>
              </a:rPr>
              <a:t>PROBLEM STATEMENT AND OBJECTIVES</a:t>
            </a:r>
            <a:endParaRPr lang="en-US" sz="1200" dirty="0"/>
          </a:p>
        </p:txBody>
      </p:sp>
      <p:sp>
        <p:nvSpPr>
          <p:cNvPr id="3" name="Text 1"/>
          <p:cNvSpPr/>
          <p:nvPr>
            <p:ph type="title"/>
          </p:nvPr>
        </p:nvSpPr>
        <p:spPr>
          <a:xfrm>
            <a:off x="812800" y="11023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51E"/>
                </a:solidFill>
                <a:latin typeface="Oswald" pitchFamily="34" charset="0"/>
                <a:ea typeface="Oswald" pitchFamily="34" charset="-122"/>
                <a:cs typeface="Oswald" pitchFamily="34" charset="-120"/>
              </a:rPr>
              <a:t>TESTING F1'S BIGGEST BELIEFS WITH DATA</a:t>
            </a:r>
            <a:endParaRPr lang="en-US" sz="3600" dirty="0"/>
          </a:p>
        </p:txBody>
      </p:sp>
      <p:sp>
        <p:nvSpPr>
          <p:cNvPr id="4" name="Text 2"/>
          <p:cNvSpPr/>
          <p:nvPr/>
        </p:nvSpPr>
        <p:spPr>
          <a:xfrm>
            <a:off x="812800" y="1910080"/>
            <a:ext cx="5258562" cy="12039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D4250"/>
                </a:solidFill>
                <a:latin typeface="Public Sans" pitchFamily="34" charset="0"/>
                <a:ea typeface="Public Sans" pitchFamily="34" charset="-122"/>
                <a:cs typeface="Public Sans" pitchFamily="34" charset="-120"/>
              </a:rPr>
              <a:t>Teams spend up to the </a:t>
            </a:r>
            <a:r>
              <a:rPr lang="en-US" sz="1600" b="1" dirty="0">
                <a:solidFill>
                  <a:srgbClr val="3D4250"/>
                </a:solidFill>
                <a:latin typeface="Public Sans" pitchFamily="34" charset="0"/>
                <a:ea typeface="Public Sans" pitchFamily="34" charset="-122"/>
                <a:cs typeface="Public Sans" pitchFamily="34" charset="-120"/>
              </a:rPr>
              <a:t>US$135M budget cap</a:t>
            </a:r>
            <a:r>
              <a:rPr lang="en-US" sz="1600" dirty="0">
                <a:solidFill>
                  <a:srgbClr val="3D4250"/>
                </a:solidFill>
                <a:latin typeface="Public Sans" pitchFamily="34" charset="0"/>
                <a:ea typeface="Public Sans" pitchFamily="34" charset="-122"/>
                <a:cs typeface="Public Sans" pitchFamily="34" charset="-120"/>
              </a:rPr>
              <a:t> on decisions built on beliefs such as </a:t>
            </a:r>
            <a:r>
              <a:rPr lang="en-US" sz="1600" i="1" dirty="0">
                <a:solidFill>
                  <a:srgbClr val="3D4250"/>
                </a:solidFill>
                <a:latin typeface="Public Sans" pitchFamily="34" charset="0"/>
                <a:ea typeface="Public Sans" pitchFamily="34" charset="-122"/>
                <a:cs typeface="Public Sans" pitchFamily="34" charset="-120"/>
              </a:rPr>
              <a:t>"the race is won in qualifying"</a:t>
            </a:r>
            <a:r>
              <a:rPr lang="en-US" sz="1600" dirty="0">
                <a:solidFill>
                  <a:srgbClr val="3D4250"/>
                </a:solidFill>
                <a:latin typeface="Public Sans" pitchFamily="34" charset="0"/>
                <a:ea typeface="Public Sans" pitchFamily="34" charset="-122"/>
                <a:cs typeface="Public Sans" pitchFamily="34" charset="-120"/>
              </a:rPr>
              <a:t>, </a:t>
            </a:r>
            <a:r>
              <a:rPr lang="en-US" sz="1600" i="1" dirty="0">
                <a:solidFill>
                  <a:srgbClr val="3D4250"/>
                </a:solidFill>
                <a:latin typeface="Public Sans" pitchFamily="34" charset="0"/>
                <a:ea typeface="Public Sans" pitchFamily="34" charset="-122"/>
                <a:cs typeface="Public Sans" pitchFamily="34" charset="-120"/>
              </a:rPr>
              <a:t>"the car matters more than the driver"</a:t>
            </a:r>
            <a:r>
              <a:rPr lang="en-US" sz="1600" dirty="0">
                <a:solidFill>
                  <a:srgbClr val="3D4250"/>
                </a:solidFill>
                <a:latin typeface="Public Sans" pitchFamily="34" charset="0"/>
                <a:ea typeface="Public Sans" pitchFamily="34" charset="-122"/>
                <a:cs typeface="Public Sans" pitchFamily="34" charset="-120"/>
              </a:rPr>
              <a:t> and </a:t>
            </a:r>
            <a:r>
              <a:rPr lang="en-US" sz="1600" i="1" dirty="0">
                <a:solidFill>
                  <a:srgbClr val="3D4250"/>
                </a:solidFill>
                <a:latin typeface="Public Sans" pitchFamily="34" charset="0"/>
                <a:ea typeface="Public Sans" pitchFamily="34" charset="-122"/>
                <a:cs typeface="Public Sans" pitchFamily="34" charset="-120"/>
              </a:rPr>
              <a:t>"home crowds lift drivers"</a:t>
            </a:r>
            <a:r>
              <a:rPr lang="en-US" sz="1600" dirty="0">
                <a:solidFill>
                  <a:srgbClr val="3D4250"/>
                </a:solidFill>
                <a:latin typeface="Public Sans" pitchFamily="34" charset="0"/>
                <a:ea typeface="Public Sans" pitchFamily="34" charset="-122"/>
                <a:cs typeface="Public Sans" pitchFamily="34" charset="-120"/>
              </a:rPr>
              <a:t>.</a:t>
            </a:r>
            <a:endParaRPr lang="en-US" sz="1600" dirty="0"/>
          </a:p>
        </p:txBody>
      </p:sp>
      <p:sp>
        <p:nvSpPr>
          <p:cNvPr id="5" name="Text 3"/>
          <p:cNvSpPr/>
          <p:nvPr/>
        </p:nvSpPr>
        <p:spPr>
          <a:xfrm>
            <a:off x="812800" y="3241040"/>
            <a:ext cx="5258562"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D4250"/>
                </a:solidFill>
                <a:latin typeface="Public Sans" pitchFamily="34" charset="0"/>
                <a:ea typeface="Public Sans" pitchFamily="34" charset="-122"/>
                <a:cs typeface="Public Sans" pitchFamily="34" charset="-120"/>
              </a:rPr>
              <a:t>The FIA rewrites the rules to create </a:t>
            </a:r>
            <a:r>
              <a:rPr lang="en-US" sz="1600" b="1" dirty="0">
                <a:solidFill>
                  <a:srgbClr val="3D4250"/>
                </a:solidFill>
                <a:latin typeface="Public Sans" pitchFamily="34" charset="0"/>
                <a:ea typeface="Public Sans" pitchFamily="34" charset="-122"/>
                <a:cs typeface="Public Sans" pitchFamily="34" charset="-120"/>
              </a:rPr>
              <a:t>closer racing and less dominance</a:t>
            </a:r>
            <a:r>
              <a:rPr lang="en-US" sz="1600" dirty="0">
                <a:solidFill>
                  <a:srgbClr val="3D4250"/>
                </a:solidFill>
                <a:latin typeface="Public Sans" pitchFamily="34" charset="0"/>
                <a:ea typeface="Public Sans" pitchFamily="34" charset="-122"/>
                <a:cs typeface="Public Sans" pitchFamily="34" charset="-120"/>
              </a:rPr>
              <a:t>, but rarely measures whether the changes worked.</a:t>
            </a:r>
            <a:endParaRPr lang="en-US" sz="1600" dirty="0"/>
          </a:p>
        </p:txBody>
      </p:sp>
      <p:sp>
        <p:nvSpPr>
          <p:cNvPr id="6" name="Text 4"/>
          <p:cNvSpPr/>
          <p:nvPr/>
        </p:nvSpPr>
        <p:spPr>
          <a:xfrm>
            <a:off x="812800" y="4277360"/>
            <a:ext cx="5258562" cy="61468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15151E"/>
                </a:solidFill>
                <a:latin typeface="Public Sans" pitchFamily="34" charset="0"/>
                <a:ea typeface="Public Sans" pitchFamily="34" charset="-122"/>
                <a:cs typeface="Public Sans" pitchFamily="34" charset="-120"/>
              </a:rPr>
              <a:t>We test these beliefs on every race from 1950 to 2025, and predict results from pre-race information.</a:t>
            </a:r>
            <a:endParaRPr lang="en-US" sz="1600" dirty="0"/>
          </a:p>
        </p:txBody>
      </p:sp>
      <p:sp>
        <p:nvSpPr>
          <p:cNvPr id="7" name="Shape 5"/>
          <p:cNvSpPr/>
          <p:nvPr/>
        </p:nvSpPr>
        <p:spPr>
          <a:xfrm>
            <a:off x="6273800" y="1910080"/>
            <a:ext cx="2476500" cy="1991360"/>
          </a:xfrm>
          <a:prstGeom prst="rect">
            <a:avLst/>
          </a:prstGeom>
          <a:solidFill>
            <a:srgbClr val="FFFFFF"/>
          </a:solidFill>
          <a:ln/>
        </p:spPr>
      </p:sp>
      <p:sp>
        <p:nvSpPr>
          <p:cNvPr id="8" name="Shape 6"/>
          <p:cNvSpPr/>
          <p:nvPr/>
        </p:nvSpPr>
        <p:spPr>
          <a:xfrm>
            <a:off x="6273800" y="1929130"/>
            <a:ext cx="2476500" cy="0"/>
          </a:xfrm>
          <a:prstGeom prst="line">
            <a:avLst/>
          </a:prstGeom>
          <a:noFill/>
          <a:ln w="38100">
            <a:solidFill>
              <a:srgbClr val="E10600"/>
            </a:solidFill>
            <a:prstDash val="solid"/>
          </a:ln>
        </p:spPr>
      </p:sp>
      <p:sp>
        <p:nvSpPr>
          <p:cNvPr id="9" name="Text 7"/>
          <p:cNvSpPr/>
          <p:nvPr/>
        </p:nvSpPr>
        <p:spPr>
          <a:xfrm>
            <a:off x="6477000" y="2148840"/>
            <a:ext cx="213220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10600"/>
                </a:solidFill>
                <a:latin typeface="Oswald" pitchFamily="34" charset="0"/>
                <a:ea typeface="Oswald" pitchFamily="34" charset="-122"/>
                <a:cs typeface="Oswald" pitchFamily="34" charset="-120"/>
              </a:rPr>
              <a:t>01</a:t>
            </a:r>
            <a:endParaRPr lang="en-US" sz="2200" dirty="0"/>
          </a:p>
        </p:txBody>
      </p:sp>
      <p:sp>
        <p:nvSpPr>
          <p:cNvPr id="10" name="Text 8"/>
          <p:cNvSpPr/>
          <p:nvPr/>
        </p:nvSpPr>
        <p:spPr>
          <a:xfrm>
            <a:off x="6477000" y="2560320"/>
            <a:ext cx="2132203" cy="74549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5151E"/>
                </a:solidFill>
                <a:latin typeface="Public Sans" pitchFamily="34" charset="0"/>
                <a:ea typeface="Public Sans" pitchFamily="34" charset="-122"/>
                <a:cs typeface="Public Sans" pitchFamily="34" charset="-120"/>
              </a:rPr>
              <a:t>Understand</a:t>
            </a:r>
            <a:r>
              <a:rPr lang="en-US" sz="1400" dirty="0">
                <a:solidFill>
                  <a:srgbClr val="15151E"/>
                </a:solidFill>
                <a:latin typeface="Public Sans" pitchFamily="34" charset="0"/>
                <a:ea typeface="Public Sans" pitchFamily="34" charset="-122"/>
                <a:cs typeface="Public Sans" pitchFamily="34" charset="-120"/>
              </a:rPr>
              <a:t> what drives race outcomes: grid, car, driver, circuit, era</a:t>
            </a:r>
            <a:endParaRPr lang="en-US" sz="1400" dirty="0"/>
          </a:p>
        </p:txBody>
      </p:sp>
      <p:sp>
        <p:nvSpPr>
          <p:cNvPr id="11" name="Shape 9"/>
          <p:cNvSpPr/>
          <p:nvPr/>
        </p:nvSpPr>
        <p:spPr>
          <a:xfrm>
            <a:off x="8902700" y="1910080"/>
            <a:ext cx="2476500" cy="1991360"/>
          </a:xfrm>
          <a:prstGeom prst="rect">
            <a:avLst/>
          </a:prstGeom>
          <a:solidFill>
            <a:srgbClr val="FFFFFF"/>
          </a:solidFill>
          <a:ln/>
        </p:spPr>
      </p:sp>
      <p:sp>
        <p:nvSpPr>
          <p:cNvPr id="12" name="Shape 10"/>
          <p:cNvSpPr/>
          <p:nvPr/>
        </p:nvSpPr>
        <p:spPr>
          <a:xfrm>
            <a:off x="8902700" y="1929130"/>
            <a:ext cx="2476500" cy="0"/>
          </a:xfrm>
          <a:prstGeom prst="line">
            <a:avLst/>
          </a:prstGeom>
          <a:noFill/>
          <a:ln w="38100">
            <a:solidFill>
              <a:srgbClr val="E10600"/>
            </a:solidFill>
            <a:prstDash val="solid"/>
          </a:ln>
        </p:spPr>
      </p:sp>
      <p:sp>
        <p:nvSpPr>
          <p:cNvPr id="13" name="Text 11"/>
          <p:cNvSpPr/>
          <p:nvPr/>
        </p:nvSpPr>
        <p:spPr>
          <a:xfrm>
            <a:off x="9105900" y="2148840"/>
            <a:ext cx="213220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10600"/>
                </a:solidFill>
                <a:latin typeface="Oswald" pitchFamily="34" charset="0"/>
                <a:ea typeface="Oswald" pitchFamily="34" charset="-122"/>
                <a:cs typeface="Oswald" pitchFamily="34" charset="-120"/>
              </a:rPr>
              <a:t>02</a:t>
            </a:r>
            <a:endParaRPr lang="en-US" sz="2200" dirty="0"/>
          </a:p>
        </p:txBody>
      </p:sp>
      <p:sp>
        <p:nvSpPr>
          <p:cNvPr id="14" name="Text 12"/>
          <p:cNvSpPr/>
          <p:nvPr/>
        </p:nvSpPr>
        <p:spPr>
          <a:xfrm>
            <a:off x="9105900" y="2560320"/>
            <a:ext cx="2132203" cy="74549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5151E"/>
                </a:solidFill>
                <a:latin typeface="Public Sans" pitchFamily="34" charset="0"/>
                <a:ea typeface="Public Sans" pitchFamily="34" charset="-122"/>
                <a:cs typeface="Public Sans" pitchFamily="34" charset="-120"/>
              </a:rPr>
              <a:t>Test</a:t>
            </a:r>
            <a:r>
              <a:rPr lang="en-US" sz="1400" dirty="0">
                <a:solidFill>
                  <a:srgbClr val="15151E"/>
                </a:solidFill>
                <a:latin typeface="Public Sans" pitchFamily="34" charset="0"/>
                <a:ea typeface="Public Sans" pitchFamily="34" charset="-122"/>
                <a:cs typeface="Public Sans" pitchFamily="34" charset="-120"/>
              </a:rPr>
              <a:t> popular beliefs with hypothesis tests, p-values and effect sizes</a:t>
            </a:r>
            <a:endParaRPr lang="en-US" sz="1400" dirty="0"/>
          </a:p>
        </p:txBody>
      </p:sp>
      <p:sp>
        <p:nvSpPr>
          <p:cNvPr id="15" name="Shape 13"/>
          <p:cNvSpPr/>
          <p:nvPr/>
        </p:nvSpPr>
        <p:spPr>
          <a:xfrm>
            <a:off x="6273800" y="4053840"/>
            <a:ext cx="2476500" cy="1991360"/>
          </a:xfrm>
          <a:prstGeom prst="rect">
            <a:avLst/>
          </a:prstGeom>
          <a:solidFill>
            <a:srgbClr val="FFFFFF"/>
          </a:solidFill>
          <a:ln/>
        </p:spPr>
      </p:sp>
      <p:sp>
        <p:nvSpPr>
          <p:cNvPr id="16" name="Shape 14"/>
          <p:cNvSpPr/>
          <p:nvPr/>
        </p:nvSpPr>
        <p:spPr>
          <a:xfrm>
            <a:off x="6273800" y="4072890"/>
            <a:ext cx="2476500" cy="0"/>
          </a:xfrm>
          <a:prstGeom prst="line">
            <a:avLst/>
          </a:prstGeom>
          <a:noFill/>
          <a:ln w="38100">
            <a:solidFill>
              <a:srgbClr val="2E5F8A"/>
            </a:solidFill>
            <a:prstDash val="solid"/>
          </a:ln>
        </p:spPr>
      </p:sp>
      <p:sp>
        <p:nvSpPr>
          <p:cNvPr id="17" name="Text 15"/>
          <p:cNvSpPr/>
          <p:nvPr/>
        </p:nvSpPr>
        <p:spPr>
          <a:xfrm>
            <a:off x="6477000" y="4292600"/>
            <a:ext cx="213220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E5F8A"/>
                </a:solidFill>
                <a:latin typeface="Oswald" pitchFamily="34" charset="0"/>
                <a:ea typeface="Oswald" pitchFamily="34" charset="-122"/>
                <a:cs typeface="Oswald" pitchFamily="34" charset="-120"/>
              </a:rPr>
              <a:t>03</a:t>
            </a:r>
            <a:endParaRPr lang="en-US" sz="2200" dirty="0"/>
          </a:p>
        </p:txBody>
      </p:sp>
      <p:sp>
        <p:nvSpPr>
          <p:cNvPr id="18" name="Text 16"/>
          <p:cNvSpPr/>
          <p:nvPr/>
        </p:nvSpPr>
        <p:spPr>
          <a:xfrm>
            <a:off x="6477000" y="4704080"/>
            <a:ext cx="2132203" cy="74549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5151E"/>
                </a:solidFill>
                <a:latin typeface="Public Sans" pitchFamily="34" charset="0"/>
                <a:ea typeface="Public Sans" pitchFamily="34" charset="-122"/>
                <a:cs typeface="Public Sans" pitchFamily="34" charset="-120"/>
              </a:rPr>
              <a:t>Evaluate policy</a:t>
            </a:r>
            <a:r>
              <a:rPr lang="en-US" sz="1400" dirty="0">
                <a:solidFill>
                  <a:srgbClr val="15151E"/>
                </a:solidFill>
                <a:latin typeface="Public Sans" pitchFamily="34" charset="0"/>
                <a:ea typeface="Public Sans" pitchFamily="34" charset="-122"/>
                <a:cs typeface="Public Sans" pitchFamily="34" charset="-120"/>
              </a:rPr>
              <a:t> with A/B tests of the 2014 and 2022 regulations</a:t>
            </a:r>
            <a:endParaRPr lang="en-US" sz="1400" dirty="0"/>
          </a:p>
        </p:txBody>
      </p:sp>
      <p:sp>
        <p:nvSpPr>
          <p:cNvPr id="19" name="Shape 17"/>
          <p:cNvSpPr/>
          <p:nvPr/>
        </p:nvSpPr>
        <p:spPr>
          <a:xfrm>
            <a:off x="8902700" y="4053840"/>
            <a:ext cx="2476500" cy="1991360"/>
          </a:xfrm>
          <a:prstGeom prst="rect">
            <a:avLst/>
          </a:prstGeom>
          <a:solidFill>
            <a:srgbClr val="FFFFFF"/>
          </a:solidFill>
          <a:ln/>
        </p:spPr>
      </p:sp>
      <p:sp>
        <p:nvSpPr>
          <p:cNvPr id="20" name="Shape 18"/>
          <p:cNvSpPr/>
          <p:nvPr/>
        </p:nvSpPr>
        <p:spPr>
          <a:xfrm>
            <a:off x="8902700" y="4072890"/>
            <a:ext cx="2476500" cy="0"/>
          </a:xfrm>
          <a:prstGeom prst="line">
            <a:avLst/>
          </a:prstGeom>
          <a:noFill/>
          <a:ln w="38100">
            <a:solidFill>
              <a:srgbClr val="2E5F8A"/>
            </a:solidFill>
            <a:prstDash val="solid"/>
          </a:ln>
        </p:spPr>
      </p:sp>
      <p:sp>
        <p:nvSpPr>
          <p:cNvPr id="21" name="Text 19"/>
          <p:cNvSpPr/>
          <p:nvPr/>
        </p:nvSpPr>
        <p:spPr>
          <a:xfrm>
            <a:off x="9105900" y="4292600"/>
            <a:ext cx="213220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E5F8A"/>
                </a:solidFill>
                <a:latin typeface="Oswald" pitchFamily="34" charset="0"/>
                <a:ea typeface="Oswald" pitchFamily="34" charset="-122"/>
                <a:cs typeface="Oswald" pitchFamily="34" charset="-120"/>
              </a:rPr>
              <a:t>04</a:t>
            </a:r>
            <a:endParaRPr lang="en-US" sz="2200" dirty="0"/>
          </a:p>
        </p:txBody>
      </p:sp>
      <p:sp>
        <p:nvSpPr>
          <p:cNvPr id="22" name="Text 20"/>
          <p:cNvSpPr/>
          <p:nvPr/>
        </p:nvSpPr>
        <p:spPr>
          <a:xfrm>
            <a:off x="9105900" y="4704080"/>
            <a:ext cx="2132203" cy="74549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5151E"/>
                </a:solidFill>
                <a:latin typeface="Public Sans" pitchFamily="34" charset="0"/>
                <a:ea typeface="Public Sans" pitchFamily="34" charset="-122"/>
                <a:cs typeface="Public Sans" pitchFamily="34" charset="-120"/>
              </a:rPr>
              <a:t>Predict</a:t>
            </a:r>
            <a:r>
              <a:rPr lang="en-US" sz="1400" dirty="0">
                <a:solidFill>
                  <a:srgbClr val="15151E"/>
                </a:solidFill>
                <a:latin typeface="Public Sans" pitchFamily="34" charset="0"/>
                <a:ea typeface="Public Sans" pitchFamily="34" charset="-122"/>
                <a:cs typeface="Public Sans" pitchFamily="34" charset="-120"/>
              </a:rPr>
              <a:t> finishing position with a validated regression model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00500"/>
                </a:solidFill>
                <a:latin typeface="Public Sans" pitchFamily="34" charset="0"/>
                <a:ea typeface="Public Sans" pitchFamily="34" charset="-122"/>
                <a:cs typeface="Public Sans" pitchFamily="34" charset="-120"/>
              </a:rPr>
              <a:t>DATASET DESCRIPTION</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51E"/>
                </a:solidFill>
                <a:latin typeface="Oswald" pitchFamily="34" charset="0"/>
                <a:ea typeface="Oswald" pitchFamily="34" charset="-122"/>
                <a:cs typeface="Oswald" pitchFamily="34" charset="-120"/>
              </a:rPr>
              <a:t>EVERY CHAMPIONSHIP RACE, 1950–2025</a:t>
            </a:r>
            <a:endParaRPr lang="en-US" sz="3600" dirty="0"/>
          </a:p>
        </p:txBody>
      </p:sp>
      <p:sp>
        <p:nvSpPr>
          <p:cNvPr id="4" name="Shape 2"/>
          <p:cNvSpPr/>
          <p:nvPr/>
        </p:nvSpPr>
        <p:spPr>
          <a:xfrm>
            <a:off x="812800" y="1884680"/>
            <a:ext cx="2527300" cy="1097280"/>
          </a:xfrm>
          <a:prstGeom prst="rect">
            <a:avLst/>
          </a:prstGeom>
          <a:solidFill>
            <a:srgbClr val="15151E"/>
          </a:solidFill>
          <a:ln/>
        </p:spPr>
      </p:sp>
      <p:sp>
        <p:nvSpPr>
          <p:cNvPr id="5" name="Text 3"/>
          <p:cNvSpPr/>
          <p:nvPr/>
        </p:nvSpPr>
        <p:spPr>
          <a:xfrm>
            <a:off x="1016000" y="2062480"/>
            <a:ext cx="2184527"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5A4E"/>
                </a:solidFill>
                <a:latin typeface="Oswald" pitchFamily="34" charset="0"/>
                <a:ea typeface="Oswald" pitchFamily="34" charset="-122"/>
                <a:cs typeface="Oswald" pitchFamily="34" charset="-120"/>
              </a:rPr>
              <a:t>1,138</a:t>
            </a:r>
            <a:endParaRPr lang="en-US" sz="3600" dirty="0"/>
          </a:p>
        </p:txBody>
      </p:sp>
      <p:sp>
        <p:nvSpPr>
          <p:cNvPr id="6" name="Text 4"/>
          <p:cNvSpPr/>
          <p:nvPr/>
        </p:nvSpPr>
        <p:spPr>
          <a:xfrm>
            <a:off x="1016000" y="2590800"/>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races</a:t>
            </a:r>
            <a:endParaRPr lang="en-US" sz="1200" dirty="0"/>
          </a:p>
        </p:txBody>
      </p:sp>
      <p:sp>
        <p:nvSpPr>
          <p:cNvPr id="7" name="Shape 5"/>
          <p:cNvSpPr/>
          <p:nvPr/>
        </p:nvSpPr>
        <p:spPr>
          <a:xfrm>
            <a:off x="3492500" y="1884680"/>
            <a:ext cx="2527300" cy="1097280"/>
          </a:xfrm>
          <a:prstGeom prst="rect">
            <a:avLst/>
          </a:prstGeom>
          <a:solidFill>
            <a:srgbClr val="15151E"/>
          </a:solidFill>
          <a:ln/>
        </p:spPr>
      </p:sp>
      <p:sp>
        <p:nvSpPr>
          <p:cNvPr id="8" name="Text 6"/>
          <p:cNvSpPr/>
          <p:nvPr/>
        </p:nvSpPr>
        <p:spPr>
          <a:xfrm>
            <a:off x="3695700" y="2062480"/>
            <a:ext cx="2184527"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5A4E"/>
                </a:solidFill>
                <a:latin typeface="Oswald" pitchFamily="34" charset="0"/>
                <a:ea typeface="Oswald" pitchFamily="34" charset="-122"/>
                <a:cs typeface="Oswald" pitchFamily="34" charset="-120"/>
              </a:rPr>
              <a:t>25,387</a:t>
            </a:r>
            <a:endParaRPr lang="en-US" sz="3600" dirty="0"/>
          </a:p>
        </p:txBody>
      </p:sp>
      <p:sp>
        <p:nvSpPr>
          <p:cNvPr id="9" name="Text 7"/>
          <p:cNvSpPr/>
          <p:nvPr/>
        </p:nvSpPr>
        <p:spPr>
          <a:xfrm>
            <a:off x="3695700" y="2590800"/>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driver race entries</a:t>
            </a:r>
            <a:endParaRPr lang="en-US" sz="1200" dirty="0"/>
          </a:p>
        </p:txBody>
      </p:sp>
      <p:sp>
        <p:nvSpPr>
          <p:cNvPr id="10" name="Shape 8"/>
          <p:cNvSpPr/>
          <p:nvPr/>
        </p:nvSpPr>
        <p:spPr>
          <a:xfrm>
            <a:off x="6172200" y="1884680"/>
            <a:ext cx="2527300" cy="1097280"/>
          </a:xfrm>
          <a:prstGeom prst="rect">
            <a:avLst/>
          </a:prstGeom>
          <a:solidFill>
            <a:srgbClr val="15151E"/>
          </a:solidFill>
          <a:ln/>
        </p:spPr>
      </p:sp>
      <p:sp>
        <p:nvSpPr>
          <p:cNvPr id="11" name="Text 9"/>
          <p:cNvSpPr/>
          <p:nvPr/>
        </p:nvSpPr>
        <p:spPr>
          <a:xfrm>
            <a:off x="6375400" y="2062480"/>
            <a:ext cx="2184527"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5A4E"/>
                </a:solidFill>
                <a:latin typeface="Oswald" pitchFamily="34" charset="0"/>
                <a:ea typeface="Oswald" pitchFamily="34" charset="-122"/>
                <a:cs typeface="Oswald" pitchFamily="34" charset="-120"/>
              </a:rPr>
              <a:t>711</a:t>
            </a:r>
            <a:endParaRPr lang="en-US" sz="3600" dirty="0"/>
          </a:p>
        </p:txBody>
      </p:sp>
      <p:sp>
        <p:nvSpPr>
          <p:cNvPr id="12" name="Text 10"/>
          <p:cNvSpPr/>
          <p:nvPr/>
        </p:nvSpPr>
        <p:spPr>
          <a:xfrm>
            <a:off x="6375400" y="2590800"/>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drivers · 172 teams</a:t>
            </a:r>
            <a:endParaRPr lang="en-US" sz="1200" dirty="0"/>
          </a:p>
        </p:txBody>
      </p:sp>
      <p:sp>
        <p:nvSpPr>
          <p:cNvPr id="13" name="Shape 11"/>
          <p:cNvSpPr/>
          <p:nvPr/>
        </p:nvSpPr>
        <p:spPr>
          <a:xfrm>
            <a:off x="8851900" y="1884680"/>
            <a:ext cx="2527300" cy="1097280"/>
          </a:xfrm>
          <a:prstGeom prst="rect">
            <a:avLst/>
          </a:prstGeom>
          <a:solidFill>
            <a:srgbClr val="15151E"/>
          </a:solidFill>
          <a:ln/>
        </p:spPr>
      </p:sp>
      <p:sp>
        <p:nvSpPr>
          <p:cNvPr id="14" name="Text 12"/>
          <p:cNvSpPr/>
          <p:nvPr/>
        </p:nvSpPr>
        <p:spPr>
          <a:xfrm>
            <a:off x="9055100" y="2062480"/>
            <a:ext cx="2184527"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5A4E"/>
                </a:solidFill>
                <a:latin typeface="Oswald" pitchFamily="34" charset="0"/>
                <a:ea typeface="Oswald" pitchFamily="34" charset="-122"/>
                <a:cs typeface="Oswald" pitchFamily="34" charset="-120"/>
              </a:rPr>
              <a:t>11,675</a:t>
            </a:r>
            <a:endParaRPr lang="en-US" sz="3600" dirty="0"/>
          </a:p>
        </p:txBody>
      </p:sp>
      <p:sp>
        <p:nvSpPr>
          <p:cNvPr id="15" name="Text 13"/>
          <p:cNvSpPr/>
          <p:nvPr/>
        </p:nvSpPr>
        <p:spPr>
          <a:xfrm>
            <a:off x="9055100" y="2590800"/>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pit stops (2011–2025)</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960" y="3271521"/>
          <a:ext cx="6974840" cy="1981200"/>
        </p:xfrm>
        <a:graphic>
          <a:graphicData uri="http://schemas.openxmlformats.org/drawingml/2006/table">
            <a:tbl>
              <a:tblPr/>
              <a:tblGrid>
                <a:gridCol w="1673962"/>
                <a:gridCol w="1813458"/>
                <a:gridCol w="3487420"/>
              </a:tblGrid>
              <a:tr h="330200">
                <a:tc>
                  <a:txBody>
                    <a:bodyPr/>
                    <a:lstStyle/>
                    <a:p>
                      <a:pPr indent="0" marL="0">
                        <a:lnSpc>
                          <a:spcPts val="1680"/>
                        </a:lnSpc>
                        <a:buNone/>
                      </a:pPr>
                      <a:r>
                        <a:rPr lang="en-US" sz="1200" b="1" dirty="0">
                          <a:solidFill>
                            <a:srgbClr val="15151E"/>
                          </a:solidFill>
                          <a:latin typeface="Public Sans" pitchFamily="34" charset="0"/>
                          <a:ea typeface="Public Sans" pitchFamily="34" charset="-122"/>
                          <a:cs typeface="Public Sans" pitchFamily="34" charset="-120"/>
                        </a:rPr>
                        <a:t>Table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2E1DD"/>
                    </a:solidFill>
                  </a:tcPr>
                </a:tc>
                <a:tc>
                  <a:txBody>
                    <a:bodyPr/>
                    <a:lstStyle/>
                    <a:p>
                      <a:pPr indent="0" marL="0">
                        <a:lnSpc>
                          <a:spcPts val="1680"/>
                        </a:lnSpc>
                        <a:buNone/>
                      </a:pPr>
                      <a:r>
                        <a:rPr lang="en-US" sz="1200" b="1" dirty="0">
                          <a:solidFill>
                            <a:srgbClr val="15151E"/>
                          </a:solidFill>
                          <a:latin typeface="Public Sans" pitchFamily="34" charset="0"/>
                          <a:ea typeface="Public Sans" pitchFamily="34" charset="-122"/>
                          <a:cs typeface="Public Sans" pitchFamily="34" charset="-120"/>
                        </a:rPr>
                        <a:t>One row per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2E1DD"/>
                    </a:solidFill>
                  </a:tcPr>
                </a:tc>
                <a:tc>
                  <a:txBody>
                    <a:bodyPr/>
                    <a:lstStyle/>
                    <a:p>
                      <a:pPr indent="0" marL="0">
                        <a:lnSpc>
                          <a:spcPts val="1680"/>
                        </a:lnSpc>
                        <a:buNone/>
                      </a:pPr>
                      <a:r>
                        <a:rPr lang="en-US" sz="1200" b="1" dirty="0">
                          <a:solidFill>
                            <a:srgbClr val="15151E"/>
                          </a:solidFill>
                          <a:latin typeface="Public Sans" pitchFamily="34" charset="0"/>
                          <a:ea typeface="Public Sans" pitchFamily="34" charset="-122"/>
                          <a:cs typeface="Public Sans" pitchFamily="34" charset="-120"/>
                        </a:rPr>
                        <a:t>Key attributes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2E1DD"/>
                    </a:solidFill>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sessionentry</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driver per race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grid, position, points, status, laps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round · season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Grand Prix</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race name, date, year, circuit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driver · team</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driver / constructor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name, nationality, date of birth</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circuit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track</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country, latitude, longitude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pitstop · standings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stop / round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pit duration, championship position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bl>
          </a:graphicData>
        </a:graphic>
      </p:graphicFrame>
      <p:sp>
        <p:nvSpPr>
          <p:cNvPr id="17" name="Text 14"/>
          <p:cNvSpPr/>
          <p:nvPr/>
        </p:nvSpPr>
        <p:spPr>
          <a:xfrm>
            <a:off x="8102600" y="3261361"/>
            <a:ext cx="3139440" cy="467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151E"/>
                </a:solidFill>
                <a:latin typeface="Public Sans" pitchFamily="34" charset="0"/>
                <a:ea typeface="Public Sans" pitchFamily="34" charset="-122"/>
                <a:cs typeface="Public Sans" pitchFamily="34" charset="-120"/>
              </a:rPr>
              <a:t>Source:</a:t>
            </a:r>
            <a:r>
              <a:rPr lang="en-US" sz="1200" dirty="0">
                <a:solidFill>
                  <a:srgbClr val="3D4250"/>
                </a:solidFill>
                <a:latin typeface="Public Sans" pitchFamily="34" charset="0"/>
                <a:ea typeface="Public Sans" pitchFamily="34" charset="-122"/>
                <a:cs typeface="Public Sans" pitchFamily="34" charset="-120"/>
              </a:rPr>
              <a:t> Jolpica F1 open database, successor to the Ergast API</a:t>
            </a:r>
            <a:endParaRPr lang="en-US" sz="1200" dirty="0"/>
          </a:p>
        </p:txBody>
      </p:sp>
      <p:sp>
        <p:nvSpPr>
          <p:cNvPr id="18" name="Text 15"/>
          <p:cNvSpPr/>
          <p:nvPr/>
        </p:nvSpPr>
        <p:spPr>
          <a:xfrm>
            <a:off x="8102600" y="3830320"/>
            <a:ext cx="3139440" cy="467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151E"/>
                </a:solidFill>
                <a:latin typeface="Public Sans" pitchFamily="34" charset="0"/>
                <a:ea typeface="Public Sans" pitchFamily="34" charset="-122"/>
                <a:cs typeface="Public Sans" pitchFamily="34" charset="-120"/>
              </a:rPr>
              <a:t>Format:</a:t>
            </a:r>
            <a:r>
              <a:rPr lang="en-US" sz="1200" dirty="0">
                <a:solidFill>
                  <a:srgbClr val="3D4250"/>
                </a:solidFill>
                <a:latin typeface="Public Sans" pitchFamily="34" charset="0"/>
                <a:ea typeface="Public Sans" pitchFamily="34" charset="-122"/>
                <a:cs typeface="Public Sans" pitchFamily="34" charset="-120"/>
              </a:rPr>
              <a:t> 11 linked CSV tables (a relational star schema)</a:t>
            </a:r>
            <a:endParaRPr lang="en-US" sz="1200" dirty="0"/>
          </a:p>
        </p:txBody>
      </p:sp>
      <p:sp>
        <p:nvSpPr>
          <p:cNvPr id="19" name="Text 16"/>
          <p:cNvSpPr/>
          <p:nvPr/>
        </p:nvSpPr>
        <p:spPr>
          <a:xfrm>
            <a:off x="8102600" y="4399280"/>
            <a:ext cx="3139440" cy="467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151E"/>
                </a:solidFill>
                <a:latin typeface="Public Sans" pitchFamily="34" charset="0"/>
                <a:ea typeface="Public Sans" pitchFamily="34" charset="-122"/>
                <a:cs typeface="Public Sans" pitchFamily="34" charset="-120"/>
              </a:rPr>
              <a:t>Target:</a:t>
            </a:r>
            <a:r>
              <a:rPr lang="en-US" sz="1200" dirty="0">
                <a:solidFill>
                  <a:srgbClr val="3D4250"/>
                </a:solidFill>
                <a:latin typeface="Public Sans" pitchFamily="34" charset="0"/>
                <a:ea typeface="Public Sans" pitchFamily="34" charset="-122"/>
                <a:cs typeface="Public Sans" pitchFamily="34" charset="-120"/>
              </a:rPr>
              <a:t> finishing position, regressed on pre-race features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00500"/>
                </a:solidFill>
                <a:latin typeface="Public Sans" pitchFamily="34" charset="0"/>
                <a:ea typeface="Public Sans" pitchFamily="34" charset="-122"/>
                <a:cs typeface="Public Sans" pitchFamily="34" charset="-120"/>
              </a:rPr>
              <a:t>DATA PREPROCESSING</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51E"/>
                </a:solidFill>
                <a:latin typeface="Oswald" pitchFamily="34" charset="0"/>
                <a:ea typeface="Oswald" pitchFamily="34" charset="-122"/>
                <a:cs typeface="Oswald" pitchFamily="34" charset="-120"/>
              </a:rPr>
              <a:t>EVERY CLEANING STEP HAS A STATED REASON</a:t>
            </a:r>
            <a:endParaRPr lang="en-US" sz="3600" dirty="0"/>
          </a:p>
        </p:txBody>
      </p:sp>
      <p:sp>
        <p:nvSpPr>
          <p:cNvPr id="4" name="Shape 2"/>
          <p:cNvSpPr/>
          <p:nvPr/>
        </p:nvSpPr>
        <p:spPr>
          <a:xfrm>
            <a:off x="812800" y="1884680"/>
            <a:ext cx="3420507" cy="1333500"/>
          </a:xfrm>
          <a:prstGeom prst="rect">
            <a:avLst/>
          </a:prstGeom>
          <a:solidFill>
            <a:srgbClr val="FFFFFF"/>
          </a:solidFill>
          <a:ln/>
        </p:spPr>
      </p:sp>
      <p:sp>
        <p:nvSpPr>
          <p:cNvPr id="5" name="Shape 3"/>
          <p:cNvSpPr/>
          <p:nvPr/>
        </p:nvSpPr>
        <p:spPr>
          <a:xfrm>
            <a:off x="831850" y="1884680"/>
            <a:ext cx="0" cy="1333500"/>
          </a:xfrm>
          <a:prstGeom prst="line">
            <a:avLst/>
          </a:prstGeom>
          <a:noFill/>
          <a:ln w="38100">
            <a:solidFill>
              <a:srgbClr val="E10600"/>
            </a:solidFill>
            <a:prstDash val="solid"/>
          </a:ln>
        </p:spPr>
      </p:sp>
      <p:sp>
        <p:nvSpPr>
          <p:cNvPr id="6" name="Text 4"/>
          <p:cNvSpPr/>
          <p:nvPr/>
        </p:nvSpPr>
        <p:spPr>
          <a:xfrm>
            <a:off x="1051560" y="2062480"/>
            <a:ext cx="306790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INTEGRATION</a:t>
            </a:r>
            <a:endParaRPr lang="en-US" sz="1800" dirty="0"/>
          </a:p>
        </p:txBody>
      </p:sp>
      <p:sp>
        <p:nvSpPr>
          <p:cNvPr id="7" name="Text 5"/>
          <p:cNvSpPr/>
          <p:nvPr/>
        </p:nvSpPr>
        <p:spPr>
          <a:xfrm>
            <a:off x="1051560" y="2400300"/>
            <a:ext cx="306790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8 tables joined into one fact table; 26,203 rows in, 26,203 out</a:t>
            </a:r>
            <a:endParaRPr lang="en-US" sz="1200" dirty="0"/>
          </a:p>
        </p:txBody>
      </p:sp>
      <p:sp>
        <p:nvSpPr>
          <p:cNvPr id="8" name="Shape 6"/>
          <p:cNvSpPr/>
          <p:nvPr/>
        </p:nvSpPr>
        <p:spPr>
          <a:xfrm>
            <a:off x="4385707" y="1884680"/>
            <a:ext cx="3420507" cy="1333500"/>
          </a:xfrm>
          <a:prstGeom prst="rect">
            <a:avLst/>
          </a:prstGeom>
          <a:solidFill>
            <a:srgbClr val="FFFFFF"/>
          </a:solidFill>
          <a:ln/>
        </p:spPr>
      </p:sp>
      <p:sp>
        <p:nvSpPr>
          <p:cNvPr id="9" name="Shape 7"/>
          <p:cNvSpPr/>
          <p:nvPr/>
        </p:nvSpPr>
        <p:spPr>
          <a:xfrm>
            <a:off x="4404757" y="1884680"/>
            <a:ext cx="0" cy="1333500"/>
          </a:xfrm>
          <a:prstGeom prst="line">
            <a:avLst/>
          </a:prstGeom>
          <a:noFill/>
          <a:ln w="38100">
            <a:solidFill>
              <a:srgbClr val="E10600"/>
            </a:solidFill>
            <a:prstDash val="solid"/>
          </a:ln>
        </p:spPr>
      </p:sp>
      <p:sp>
        <p:nvSpPr>
          <p:cNvPr id="10" name="Text 8"/>
          <p:cNvSpPr/>
          <p:nvPr/>
        </p:nvSpPr>
        <p:spPr>
          <a:xfrm>
            <a:off x="4624467" y="2062480"/>
            <a:ext cx="306790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CLEANING</a:t>
            </a:r>
            <a:endParaRPr lang="en-US" sz="1800" dirty="0"/>
          </a:p>
        </p:txBody>
      </p:sp>
      <p:sp>
        <p:nvSpPr>
          <p:cNvPr id="11" name="Text 9"/>
          <p:cNvSpPr/>
          <p:nvPr/>
        </p:nvSpPr>
        <p:spPr>
          <a:xfrm>
            <a:off x="4624467" y="2400300"/>
            <a:ext cx="306790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Dropped the Indianapolis 500 and unfinished 2026 season; fixed 155 shared-drive duplicates</a:t>
            </a:r>
            <a:endParaRPr lang="en-US" sz="1200" dirty="0"/>
          </a:p>
        </p:txBody>
      </p:sp>
      <p:sp>
        <p:nvSpPr>
          <p:cNvPr id="12" name="Shape 10"/>
          <p:cNvSpPr/>
          <p:nvPr/>
        </p:nvSpPr>
        <p:spPr>
          <a:xfrm>
            <a:off x="7958614" y="1884680"/>
            <a:ext cx="3420507" cy="1333500"/>
          </a:xfrm>
          <a:prstGeom prst="rect">
            <a:avLst/>
          </a:prstGeom>
          <a:solidFill>
            <a:srgbClr val="FFFFFF"/>
          </a:solidFill>
          <a:ln/>
        </p:spPr>
      </p:sp>
      <p:sp>
        <p:nvSpPr>
          <p:cNvPr id="13" name="Shape 11"/>
          <p:cNvSpPr/>
          <p:nvPr/>
        </p:nvSpPr>
        <p:spPr>
          <a:xfrm>
            <a:off x="7977664" y="1884680"/>
            <a:ext cx="0" cy="1333500"/>
          </a:xfrm>
          <a:prstGeom prst="line">
            <a:avLst/>
          </a:prstGeom>
          <a:noFill/>
          <a:ln w="38100">
            <a:solidFill>
              <a:srgbClr val="E10600"/>
            </a:solidFill>
            <a:prstDash val="solid"/>
          </a:ln>
        </p:spPr>
      </p:sp>
      <p:sp>
        <p:nvSpPr>
          <p:cNvPr id="14" name="Text 12"/>
          <p:cNvSpPr/>
          <p:nvPr/>
        </p:nvSpPr>
        <p:spPr>
          <a:xfrm>
            <a:off x="8197374" y="2062480"/>
            <a:ext cx="306790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MISSING VALUES</a:t>
            </a:r>
            <a:endParaRPr lang="en-US" sz="1800" dirty="0"/>
          </a:p>
        </p:txBody>
      </p:sp>
      <p:sp>
        <p:nvSpPr>
          <p:cNvPr id="15" name="Text 13"/>
          <p:cNvSpPr/>
          <p:nvPr/>
        </p:nvSpPr>
        <p:spPr>
          <a:xfrm>
            <a:off x="8197374" y="2400300"/>
            <a:ext cx="306790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Finish time is 67% missing </a:t>
            </a:r>
            <a:r>
              <a:rPr lang="en-US" sz="1200" i="1" dirty="0">
                <a:solidFill>
                  <a:srgbClr val="3D4250"/>
                </a:solidFill>
                <a:latin typeface="Public Sans" pitchFamily="34" charset="0"/>
                <a:ea typeface="Public Sans" pitchFamily="34" charset="-122"/>
                <a:cs typeface="Public Sans" pitchFamily="34" charset="-120"/>
              </a:rPr>
              <a:t>because</a:t>
            </a:r>
            <a:r>
              <a:rPr lang="en-US" sz="1200" dirty="0">
                <a:solidFill>
                  <a:srgbClr val="3D4250"/>
                </a:solidFill>
                <a:latin typeface="Public Sans" pitchFamily="34" charset="0"/>
                <a:ea typeface="Public Sans" pitchFamily="34" charset="-122"/>
                <a:cs typeface="Public Sans" pitchFamily="34" charset="-120"/>
              </a:rPr>
              <a:t> drivers retired: dropped, never imputed</a:t>
            </a:r>
            <a:endParaRPr lang="en-US" sz="1200" dirty="0"/>
          </a:p>
        </p:txBody>
      </p:sp>
      <p:sp>
        <p:nvSpPr>
          <p:cNvPr id="16" name="Shape 14"/>
          <p:cNvSpPr/>
          <p:nvPr/>
        </p:nvSpPr>
        <p:spPr>
          <a:xfrm>
            <a:off x="812800" y="3370580"/>
            <a:ext cx="3420507" cy="1333500"/>
          </a:xfrm>
          <a:prstGeom prst="rect">
            <a:avLst/>
          </a:prstGeom>
          <a:solidFill>
            <a:srgbClr val="FFFFFF"/>
          </a:solidFill>
          <a:ln/>
        </p:spPr>
      </p:sp>
      <p:sp>
        <p:nvSpPr>
          <p:cNvPr id="17" name="Shape 15"/>
          <p:cNvSpPr/>
          <p:nvPr/>
        </p:nvSpPr>
        <p:spPr>
          <a:xfrm>
            <a:off x="831850" y="3370580"/>
            <a:ext cx="0" cy="1333500"/>
          </a:xfrm>
          <a:prstGeom prst="line">
            <a:avLst/>
          </a:prstGeom>
          <a:noFill/>
          <a:ln w="38100">
            <a:solidFill>
              <a:srgbClr val="2E5F8A"/>
            </a:solidFill>
            <a:prstDash val="solid"/>
          </a:ln>
        </p:spPr>
      </p:sp>
      <p:sp>
        <p:nvSpPr>
          <p:cNvPr id="18" name="Text 16"/>
          <p:cNvSpPr/>
          <p:nvPr/>
        </p:nvSpPr>
        <p:spPr>
          <a:xfrm>
            <a:off x="1051560" y="3548380"/>
            <a:ext cx="306790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OUTLIERS</a:t>
            </a:r>
            <a:endParaRPr lang="en-US" sz="1800" dirty="0"/>
          </a:p>
        </p:txBody>
      </p:sp>
      <p:sp>
        <p:nvSpPr>
          <p:cNvPr id="19" name="Text 17"/>
          <p:cNvSpPr/>
          <p:nvPr/>
        </p:nvSpPr>
        <p:spPr>
          <a:xfrm>
            <a:off x="1051560" y="3886200"/>
            <a:ext cx="306790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IQR rule; genuine extremes kept (a 56-year-old driver); 517 red-flag pit stops removed</a:t>
            </a:r>
            <a:endParaRPr lang="en-US" sz="1200" dirty="0"/>
          </a:p>
        </p:txBody>
      </p:sp>
      <p:sp>
        <p:nvSpPr>
          <p:cNvPr id="20" name="Shape 18"/>
          <p:cNvSpPr/>
          <p:nvPr/>
        </p:nvSpPr>
        <p:spPr>
          <a:xfrm>
            <a:off x="4385707" y="3370580"/>
            <a:ext cx="3420507" cy="1333500"/>
          </a:xfrm>
          <a:prstGeom prst="rect">
            <a:avLst/>
          </a:prstGeom>
          <a:solidFill>
            <a:srgbClr val="FFFFFF"/>
          </a:solidFill>
          <a:ln/>
        </p:spPr>
      </p:sp>
      <p:sp>
        <p:nvSpPr>
          <p:cNvPr id="21" name="Shape 19"/>
          <p:cNvSpPr/>
          <p:nvPr/>
        </p:nvSpPr>
        <p:spPr>
          <a:xfrm>
            <a:off x="4404757" y="3370580"/>
            <a:ext cx="0" cy="1333500"/>
          </a:xfrm>
          <a:prstGeom prst="line">
            <a:avLst/>
          </a:prstGeom>
          <a:noFill/>
          <a:ln w="38100">
            <a:solidFill>
              <a:srgbClr val="2E5F8A"/>
            </a:solidFill>
            <a:prstDash val="solid"/>
          </a:ln>
        </p:spPr>
      </p:sp>
      <p:sp>
        <p:nvSpPr>
          <p:cNvPr id="22" name="Text 20"/>
          <p:cNvSpPr/>
          <p:nvPr/>
        </p:nvSpPr>
        <p:spPr>
          <a:xfrm>
            <a:off x="4624467" y="3548380"/>
            <a:ext cx="306790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TRANSFORMATION</a:t>
            </a:r>
            <a:endParaRPr lang="en-US" sz="1800" dirty="0"/>
          </a:p>
        </p:txBody>
      </p:sp>
      <p:sp>
        <p:nvSpPr>
          <p:cNvPr id="23" name="Text 21"/>
          <p:cNvSpPr/>
          <p:nvPr/>
        </p:nvSpPr>
        <p:spPr>
          <a:xfrm>
            <a:off x="4624467" y="3886200"/>
            <a:ext cx="306790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New features: outcome, era, street circuit, home race, experience, age</a:t>
            </a:r>
            <a:endParaRPr lang="en-US" sz="1200" dirty="0"/>
          </a:p>
        </p:txBody>
      </p:sp>
      <p:sp>
        <p:nvSpPr>
          <p:cNvPr id="24" name="Shape 22"/>
          <p:cNvSpPr/>
          <p:nvPr/>
        </p:nvSpPr>
        <p:spPr>
          <a:xfrm>
            <a:off x="7958614" y="3370580"/>
            <a:ext cx="3420507" cy="1333500"/>
          </a:xfrm>
          <a:prstGeom prst="rect">
            <a:avLst/>
          </a:prstGeom>
          <a:solidFill>
            <a:srgbClr val="FFFFFF"/>
          </a:solidFill>
          <a:ln/>
        </p:spPr>
      </p:sp>
      <p:sp>
        <p:nvSpPr>
          <p:cNvPr id="25" name="Shape 23"/>
          <p:cNvSpPr/>
          <p:nvPr/>
        </p:nvSpPr>
        <p:spPr>
          <a:xfrm>
            <a:off x="7977664" y="3370580"/>
            <a:ext cx="0" cy="1333500"/>
          </a:xfrm>
          <a:prstGeom prst="line">
            <a:avLst/>
          </a:prstGeom>
          <a:noFill/>
          <a:ln w="38100">
            <a:solidFill>
              <a:srgbClr val="2E5F8A"/>
            </a:solidFill>
            <a:prstDash val="solid"/>
          </a:ln>
        </p:spPr>
      </p:sp>
      <p:sp>
        <p:nvSpPr>
          <p:cNvPr id="26" name="Text 24"/>
          <p:cNvSpPr/>
          <p:nvPr/>
        </p:nvSpPr>
        <p:spPr>
          <a:xfrm>
            <a:off x="8197374" y="3548380"/>
            <a:ext cx="306790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REDUCTION</a:t>
            </a:r>
            <a:endParaRPr lang="en-US" sz="1800" dirty="0"/>
          </a:p>
        </p:txBody>
      </p:sp>
      <p:sp>
        <p:nvSpPr>
          <p:cNvPr id="27" name="Text 25"/>
          <p:cNvSpPr/>
          <p:nvPr/>
        </p:nvSpPr>
        <p:spPr>
          <a:xfrm>
            <a:off x="8197374" y="3886200"/>
            <a:ext cx="306790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45 columns cut to 33; race-level and season-level tables built</a:t>
            </a:r>
            <a:endParaRPr lang="en-US" sz="1200" dirty="0"/>
          </a:p>
        </p:txBody>
      </p:sp>
      <p:sp>
        <p:nvSpPr>
          <p:cNvPr id="28" name="Text 26"/>
          <p:cNvSpPr/>
          <p:nvPr/>
        </p:nvSpPr>
        <p:spPr>
          <a:xfrm>
            <a:off x="812800" y="4983480"/>
            <a:ext cx="10566400" cy="802640"/>
          </a:xfrm>
          <a:prstGeom prst="rect">
            <a:avLst/>
          </a:prstGeom>
          <a:solidFill>
            <a:srgbClr val="E8E6DF"/>
          </a:solidFill>
          <a:ln/>
        </p:spPr>
        <p:txBody>
          <a:bodyPr wrap="square" lIns="203200" tIns="152400" rIns="0" bIns="127000" rtlCol="0" anchor="t">
            <a:normAutofit/>
          </a:bodyPr>
          <a:lstStyle/>
          <a:p>
            <a:pPr algn="l" indent="0" marL="0">
              <a:lnSpc>
                <a:spcPts val="1960"/>
              </a:lnSpc>
              <a:buNone/>
            </a:pPr>
            <a:r>
              <a:rPr lang="en-US" sz="1400" b="1" dirty="0">
                <a:solidFill>
                  <a:srgbClr val="15151E"/>
                </a:solidFill>
                <a:latin typeface="Public Sans" pitchFamily="34" charset="0"/>
                <a:ea typeface="Public Sans" pitchFamily="34" charset="-122"/>
                <a:cs typeface="Public Sans" pitchFamily="34" charset="-120"/>
              </a:rPr>
              <a:t>Key engineered metric:</a:t>
            </a:r>
            <a:r>
              <a:rPr lang="en-US" sz="1400" dirty="0">
                <a:solidFill>
                  <a:srgbClr val="15151E"/>
                </a:solidFill>
                <a:latin typeface="Public Sans" pitchFamily="34" charset="0"/>
                <a:ea typeface="Public Sans" pitchFamily="34" charset="-122"/>
                <a:cs typeface="Public Sans" pitchFamily="34" charset="-120"/>
              </a:rPr>
              <a:t> "order change" re-ranks the grid among finishers only, so retirements ahead do not count as overtakes.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00500"/>
                </a:solidFill>
                <a:latin typeface="Public Sans" pitchFamily="34" charset="0"/>
                <a:ea typeface="Public Sans" pitchFamily="34" charset="-122"/>
                <a:cs typeface="Public Sans" pitchFamily="34" charset="-120"/>
              </a:rPr>
              <a:t>EXPLORATORY DATA ANALYSIS</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51E"/>
                </a:solidFill>
                <a:latin typeface="Oswald" pitchFamily="34" charset="0"/>
                <a:ea typeface="Oswald" pitchFamily="34" charset="-122"/>
                <a:cs typeface="Oswald" pitchFamily="34" charset="-120"/>
              </a:rPr>
              <a:t>MORE RACES, FEWER WINNERS</a:t>
            </a:r>
            <a:endParaRPr lang="en-US" sz="3600" dirty="0"/>
          </a:p>
        </p:txBody>
      </p:sp>
      <p:sp>
        <p:nvSpPr>
          <p:cNvPr id="4" name="Shape 2"/>
          <p:cNvSpPr/>
          <p:nvPr/>
        </p:nvSpPr>
        <p:spPr>
          <a:xfrm>
            <a:off x="812800" y="1859282"/>
            <a:ext cx="5207000" cy="2585720"/>
          </a:xfrm>
          <a:prstGeom prst="rect">
            <a:avLst/>
          </a:prstGeom>
          <a:solidFill>
            <a:srgbClr val="FFFFFF"/>
          </a:solidFill>
          <a:ln/>
        </p:spPr>
      </p:sp>
      <p:pic>
        <p:nvPicPr>
          <p:cNvPr id="5" name="Image 0" descr="Bar and line chart: races per season grew from 6 in 1950 to 24 in 2025 while average cars per race settled near 20">    </p:cNvPr>
          <p:cNvPicPr>
            <a:picLocks noChangeAspect="1"/>
          </p:cNvPicPr>
          <p:nvPr/>
        </p:nvPicPr>
        <p:blipFill>
          <a:blip r:embed="rId1"/>
          <a:srcRect l="0" r="0" t="-1439" b="-1439"/>
          <a:stretch/>
        </p:blipFill>
        <p:spPr>
          <a:xfrm>
            <a:off x="914400" y="1960882"/>
            <a:ext cx="5003800" cy="1879600"/>
          </a:xfrm>
          <a:prstGeom prst="rect">
            <a:avLst/>
          </a:prstGeom>
        </p:spPr>
      </p:pic>
      <p:sp>
        <p:nvSpPr>
          <p:cNvPr id="6" name="Text 3"/>
          <p:cNvSpPr/>
          <p:nvPr/>
        </p:nvSpPr>
        <p:spPr>
          <a:xfrm>
            <a:off x="914400" y="3916682"/>
            <a:ext cx="515391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Calendar grew from 6 races (1950) to 24 (2025); grids settled at 20 cars</a:t>
            </a:r>
            <a:endParaRPr lang="en-US" sz="1200" dirty="0"/>
          </a:p>
        </p:txBody>
      </p:sp>
      <p:sp>
        <p:nvSpPr>
          <p:cNvPr id="7" name="Shape 4"/>
          <p:cNvSpPr/>
          <p:nvPr/>
        </p:nvSpPr>
        <p:spPr>
          <a:xfrm>
            <a:off x="6172200" y="1859282"/>
            <a:ext cx="5207000" cy="2585720"/>
          </a:xfrm>
          <a:prstGeom prst="rect">
            <a:avLst/>
          </a:prstGeom>
          <a:solidFill>
            <a:srgbClr val="FFFFFF"/>
          </a:solidFill>
          <a:ln/>
        </p:spPr>
      </p:sp>
      <p:pic>
        <p:nvPicPr>
          <p:cNvPr id="8" name="Image 1" descr="Horizontal bar charts of the top 10 drivers and constructors by race wins, led by Lewis Hamilton with 105 and Ferrari with 248">    </p:cNvPr>
          <p:cNvPicPr>
            <a:picLocks noChangeAspect="1"/>
          </p:cNvPicPr>
          <p:nvPr/>
        </p:nvPicPr>
        <p:blipFill>
          <a:blip r:embed="rId2"/>
          <a:srcRect l="0" r="0" t="-3952" b="-3952"/>
          <a:stretch/>
        </p:blipFill>
        <p:spPr>
          <a:xfrm>
            <a:off x="6273800" y="1960882"/>
            <a:ext cx="5003800" cy="1879600"/>
          </a:xfrm>
          <a:prstGeom prst="rect">
            <a:avLst/>
          </a:prstGeom>
        </p:spPr>
      </p:pic>
      <p:sp>
        <p:nvSpPr>
          <p:cNvPr id="9" name="Text 5"/>
          <p:cNvSpPr/>
          <p:nvPr/>
        </p:nvSpPr>
        <p:spPr>
          <a:xfrm>
            <a:off x="6273800" y="3916682"/>
            <a:ext cx="51539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Success is concentrated: Hamilton 105 wins, Ferrari 248</a:t>
            </a:r>
            <a:endParaRPr lang="en-US" sz="1200" dirty="0"/>
          </a:p>
        </p:txBody>
      </p:sp>
      <p:sp>
        <p:nvSpPr>
          <p:cNvPr id="10" name="Shape 6"/>
          <p:cNvSpPr/>
          <p:nvPr/>
        </p:nvSpPr>
        <p:spPr>
          <a:xfrm>
            <a:off x="812800" y="4711700"/>
            <a:ext cx="3420507" cy="0"/>
          </a:xfrm>
          <a:prstGeom prst="line">
            <a:avLst/>
          </a:prstGeom>
          <a:noFill/>
          <a:ln w="25400">
            <a:solidFill>
              <a:srgbClr val="E10600"/>
            </a:solidFill>
            <a:prstDash val="solid"/>
          </a:ln>
        </p:spPr>
      </p:sp>
      <p:sp>
        <p:nvSpPr>
          <p:cNvPr id="11" name="Text 7"/>
          <p:cNvSpPr/>
          <p:nvPr/>
        </p:nvSpPr>
        <p:spPr>
          <a:xfrm>
            <a:off x="812800" y="4826000"/>
            <a:ext cx="352312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5151E"/>
                </a:solidFill>
                <a:latin typeface="Oswald" pitchFamily="34" charset="0"/>
                <a:ea typeface="Oswald" pitchFamily="34" charset="-122"/>
                <a:cs typeface="Oswald" pitchFamily="34" charset="-120"/>
              </a:rPr>
              <a:t>0.8</a:t>
            </a:r>
            <a:endParaRPr lang="en-US" sz="2800" dirty="0"/>
          </a:p>
        </p:txBody>
      </p:sp>
      <p:sp>
        <p:nvSpPr>
          <p:cNvPr id="12" name="Text 8"/>
          <p:cNvSpPr/>
          <p:nvPr/>
        </p:nvSpPr>
        <p:spPr>
          <a:xfrm>
            <a:off x="812800" y="5242561"/>
            <a:ext cx="35231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median grid-to-finish correlation since 2000</a:t>
            </a:r>
            <a:endParaRPr lang="en-US" sz="1200" dirty="0"/>
          </a:p>
        </p:txBody>
      </p:sp>
      <p:sp>
        <p:nvSpPr>
          <p:cNvPr id="13" name="Shape 9"/>
          <p:cNvSpPr/>
          <p:nvPr/>
        </p:nvSpPr>
        <p:spPr>
          <a:xfrm>
            <a:off x="4385707" y="4711700"/>
            <a:ext cx="3420586" cy="0"/>
          </a:xfrm>
          <a:prstGeom prst="line">
            <a:avLst/>
          </a:prstGeom>
          <a:noFill/>
          <a:ln w="25400">
            <a:solidFill>
              <a:srgbClr val="E10600"/>
            </a:solidFill>
            <a:prstDash val="solid"/>
          </a:ln>
        </p:spPr>
      </p:sp>
      <p:sp>
        <p:nvSpPr>
          <p:cNvPr id="14" name="Text 10"/>
          <p:cNvSpPr/>
          <p:nvPr/>
        </p:nvSpPr>
        <p:spPr>
          <a:xfrm>
            <a:off x="4385707" y="4826000"/>
            <a:ext cx="3523204"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5151E"/>
                </a:solidFill>
                <a:latin typeface="Oswald" pitchFamily="34" charset="0"/>
                <a:ea typeface="Oswald" pitchFamily="34" charset="-122"/>
                <a:cs typeface="Oswald" pitchFamily="34" charset="-120"/>
              </a:rPr>
              <a:t>31 → 27</a:t>
            </a:r>
            <a:endParaRPr lang="en-US" sz="2800" dirty="0"/>
          </a:p>
        </p:txBody>
      </p:sp>
      <p:sp>
        <p:nvSpPr>
          <p:cNvPr id="15" name="Text 11"/>
          <p:cNvSpPr/>
          <p:nvPr/>
        </p:nvSpPr>
        <p:spPr>
          <a:xfrm>
            <a:off x="4385707" y="5242561"/>
            <a:ext cx="35232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median driver age, 1950s era vs today</a:t>
            </a:r>
            <a:endParaRPr lang="en-US" sz="1200" dirty="0"/>
          </a:p>
        </p:txBody>
      </p:sp>
      <p:sp>
        <p:nvSpPr>
          <p:cNvPr id="16" name="Shape 12"/>
          <p:cNvSpPr/>
          <p:nvPr/>
        </p:nvSpPr>
        <p:spPr>
          <a:xfrm>
            <a:off x="7958693" y="4711700"/>
            <a:ext cx="3420507" cy="0"/>
          </a:xfrm>
          <a:prstGeom prst="line">
            <a:avLst/>
          </a:prstGeom>
          <a:noFill/>
          <a:ln w="25400">
            <a:solidFill>
              <a:srgbClr val="2E5F8A"/>
            </a:solidFill>
            <a:prstDash val="solid"/>
          </a:ln>
        </p:spPr>
      </p:sp>
      <p:sp>
        <p:nvSpPr>
          <p:cNvPr id="17" name="Text 13"/>
          <p:cNvSpPr/>
          <p:nvPr/>
        </p:nvSpPr>
        <p:spPr>
          <a:xfrm>
            <a:off x="7958693" y="4826000"/>
            <a:ext cx="352312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5151E"/>
                </a:solidFill>
                <a:latin typeface="Oswald" pitchFamily="34" charset="0"/>
                <a:ea typeface="Oswald" pitchFamily="34" charset="-122"/>
                <a:cs typeface="Oswald" pitchFamily="34" charset="-120"/>
              </a:rPr>
              <a:t>Monza 75</a:t>
            </a:r>
            <a:endParaRPr lang="en-US" sz="2800" dirty="0"/>
          </a:p>
        </p:txBody>
      </p:sp>
      <p:sp>
        <p:nvSpPr>
          <p:cNvPr id="18" name="Text 14"/>
          <p:cNvSpPr/>
          <p:nvPr/>
        </p:nvSpPr>
        <p:spPr>
          <a:xfrm>
            <a:off x="7958693" y="5242561"/>
            <a:ext cx="35231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most races hosted (Monaco 71, Silverstone 60)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3E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6842760"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151E"/>
                </a:solidFill>
                <a:latin typeface="Oswald" pitchFamily="34" charset="0"/>
                <a:ea typeface="Oswald" pitchFamily="34" charset="-122"/>
                <a:cs typeface="Oswald" pitchFamily="34" charset="-120"/>
              </a:rPr>
              <a:t>13 HYPOTHESIS TESTS, 3 A/B TESTS</a:t>
            </a:r>
            <a:endParaRPr lang="en-US" sz="3200" dirty="0"/>
          </a:p>
        </p:txBody>
      </p:sp>
      <p:sp>
        <p:nvSpPr>
          <p:cNvPr id="3" name="Text 1"/>
          <p:cNvSpPr/>
          <p:nvPr/>
        </p:nvSpPr>
        <p:spPr>
          <a:xfrm>
            <a:off x="7716520" y="731521"/>
            <a:ext cx="3662680" cy="4521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Every test: H0/H1, p-value and effect size · α = 0.05</a:t>
            </a:r>
            <a:endParaRPr lang="en-US" sz="1200" dirty="0"/>
          </a:p>
        </p:txBody>
      </p:sp>
      <p:sp>
        <p:nvSpPr>
          <p:cNvPr id="4" name="Shape 2"/>
          <p:cNvSpPr/>
          <p:nvPr/>
        </p:nvSpPr>
        <p:spPr>
          <a:xfrm>
            <a:off x="812800" y="1315719"/>
            <a:ext cx="10566400" cy="0"/>
          </a:xfrm>
          <a:prstGeom prst="line">
            <a:avLst/>
          </a:prstGeom>
          <a:noFill/>
          <a:ln w="10160">
            <a:solidFill>
              <a:srgbClr val="141413">
                <a:alpha val="22000"/>
              </a:srgbClr>
            </a:solidFill>
            <a:prstDash val="solid"/>
          </a:ln>
        </p:spPr>
      </p:sp>
      <p:sp>
        <p:nvSpPr>
          <p:cNvPr id="5" name="Shape 3"/>
          <p:cNvSpPr/>
          <p:nvPr/>
        </p:nvSpPr>
        <p:spPr>
          <a:xfrm>
            <a:off x="817880" y="1310639"/>
            <a:ext cx="0" cy="473456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73760" y="1371599"/>
          <a:ext cx="10454640" cy="4622800"/>
        </p:xfrm>
        <a:graphic>
          <a:graphicData uri="http://schemas.openxmlformats.org/drawingml/2006/table">
            <a:tbl>
              <a:tblPr/>
              <a:tblGrid>
                <a:gridCol w="940918"/>
                <a:gridCol w="4181856"/>
                <a:gridCol w="2613660"/>
                <a:gridCol w="2718206"/>
              </a:tblGrid>
              <a:tr h="330200">
                <a:tc>
                  <a:txBody>
                    <a:bodyPr/>
                    <a:lstStyle/>
                    <a:p>
                      <a:pPr indent="0" marL="0">
                        <a:lnSpc>
                          <a:spcPts val="1680"/>
                        </a:lnSpc>
                        <a:buNone/>
                      </a:pPr>
                      <a:r>
                        <a:rPr lang="en-US" sz="1200" b="1" dirty="0">
                          <a:solidFill>
                            <a:srgbClr val="15151E"/>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B5B4B1"/>
                      </a:solidFill>
                      <a:prstDash val="solid"/>
                      <a:round/>
                      <a:headEnd type="none" w="med" len="med"/>
                      <a:tailEnd type="none" w="med" len="med"/>
                    </a:lnR>
                    <a:lnT w="0" cap="flat" cmpd="sng" algn="ctr">
                      <a:noFill/>
                    </a:lnT>
                    <a:lnB w="12700" cap="flat" cmpd="sng" algn="ctr">
                      <a:solidFill>
                        <a:srgbClr val="B5B4B1"/>
                      </a:solidFill>
                      <a:prstDash val="solid"/>
                      <a:round/>
                      <a:headEnd type="none" w="med" len="med"/>
                      <a:tailEnd type="none" w="med" len="med"/>
                    </a:lnB>
                    <a:solidFill>
                      <a:srgbClr val="E2E1DD"/>
                    </a:solidFill>
                  </a:tcPr>
                </a:tc>
                <a:tc>
                  <a:txBody>
                    <a:bodyPr/>
                    <a:lstStyle/>
                    <a:p>
                      <a:pPr indent="0" marL="0">
                        <a:lnSpc>
                          <a:spcPts val="1680"/>
                        </a:lnSpc>
                        <a:buNone/>
                      </a:pPr>
                      <a:r>
                        <a:rPr lang="en-US" sz="1200" b="1" dirty="0">
                          <a:solidFill>
                            <a:srgbClr val="15151E"/>
                          </a:solidFill>
                          <a:latin typeface="Public Sans" pitchFamily="34" charset="0"/>
                          <a:ea typeface="Public Sans" pitchFamily="34" charset="-122"/>
                          <a:cs typeface="Public Sans" pitchFamily="34" charset="-120"/>
                        </a:rPr>
                        <a:t>Question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0" cap="flat" cmpd="sng" algn="ctr">
                      <a:noFill/>
                    </a:lnT>
                    <a:lnB w="12700" cap="flat" cmpd="sng" algn="ctr">
                      <a:solidFill>
                        <a:srgbClr val="B5B4B1"/>
                      </a:solidFill>
                      <a:prstDash val="solid"/>
                      <a:round/>
                      <a:headEnd type="none" w="med" len="med"/>
                      <a:tailEnd type="none" w="med" len="med"/>
                    </a:lnB>
                    <a:solidFill>
                      <a:srgbClr val="E2E1DD"/>
                    </a:solidFill>
                  </a:tcPr>
                </a:tc>
                <a:tc>
                  <a:txBody>
                    <a:bodyPr/>
                    <a:lstStyle/>
                    <a:p>
                      <a:pPr indent="0" marL="0">
                        <a:lnSpc>
                          <a:spcPts val="1680"/>
                        </a:lnSpc>
                        <a:buNone/>
                      </a:pPr>
                      <a:r>
                        <a:rPr lang="en-US" sz="1200" b="1" dirty="0">
                          <a:solidFill>
                            <a:srgbClr val="15151E"/>
                          </a:solidFill>
                          <a:latin typeface="Public Sans" pitchFamily="34" charset="0"/>
                          <a:ea typeface="Public Sans" pitchFamily="34" charset="-122"/>
                          <a:cs typeface="Public Sans" pitchFamily="34" charset="-120"/>
                        </a:rPr>
                        <a:t>Test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0" cap="flat" cmpd="sng" algn="ctr">
                      <a:noFill/>
                    </a:lnT>
                    <a:lnB w="12700" cap="flat" cmpd="sng" algn="ctr">
                      <a:solidFill>
                        <a:srgbClr val="B5B4B1"/>
                      </a:solidFill>
                      <a:prstDash val="solid"/>
                      <a:round/>
                      <a:headEnd type="none" w="med" len="med"/>
                      <a:tailEnd type="none" w="med" len="med"/>
                    </a:lnB>
                    <a:solidFill>
                      <a:srgbClr val="E2E1DD"/>
                    </a:solidFill>
                  </a:tcPr>
                </a:tc>
                <a:tc>
                  <a:txBody>
                    <a:bodyPr/>
                    <a:lstStyle/>
                    <a:p>
                      <a:pPr indent="0" marL="0">
                        <a:lnSpc>
                          <a:spcPts val="1680"/>
                        </a:lnSpc>
                        <a:buNone/>
                      </a:pPr>
                      <a:r>
                        <a:rPr lang="en-US" sz="1200" b="1" dirty="0">
                          <a:solidFill>
                            <a:srgbClr val="15151E"/>
                          </a:solidFill>
                          <a:latin typeface="Public Sans" pitchFamily="34" charset="0"/>
                          <a:ea typeface="Public Sans" pitchFamily="34" charset="-122"/>
                          <a:cs typeface="Public Sans" pitchFamily="34" charset="-120"/>
                        </a:rPr>
                        <a:t>Result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0" cap="flat" cmpd="sng" algn="ctr">
                      <a:noFill/>
                    </a:lnT>
                    <a:lnB w="12700" cap="flat" cmpd="sng" algn="ctr">
                      <a:solidFill>
                        <a:srgbClr val="B5B4B1"/>
                      </a:solidFill>
                      <a:prstDash val="solid"/>
                      <a:round/>
                      <a:headEnd type="none" w="med" len="med"/>
                      <a:tailEnd type="none" w="med" len="med"/>
                    </a:lnB>
                    <a:solidFill>
                      <a:srgbClr val="E2E1DD"/>
                    </a:solidFill>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Q1</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3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Does grid position decide the result?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Kruskal–Wallis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Yes, ρ ≈ 0.8 since 2000</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Q2 A/B</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8B6B4"/>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Hybrid era: does pole convert more often?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B6B4"/>
                      </a:solidFill>
                      <a:prstDash val="solid"/>
                      <a:round/>
                      <a:headEnd type="none" w="med" len="med"/>
                      <a:tailEnd type="none" w="med" len="med"/>
                    </a:lnL>
                    <a:lnR w="12700" cap="flat" cmpd="sng" algn="ctr">
                      <a:solidFill>
                        <a:srgbClr val="C8B6B4"/>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Two-proportion z</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B6B4"/>
                      </a:solidFill>
                      <a:prstDash val="solid"/>
                      <a:round/>
                      <a:headEnd type="none" w="med" len="med"/>
                      <a:tailEnd type="none" w="med" len="med"/>
                    </a:lnL>
                    <a:lnR w="12700" cap="flat" cmpd="sng" algn="ctr">
                      <a:solidFill>
                        <a:srgbClr val="C8B6B4"/>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No, p = 0.35</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B6B4"/>
                      </a:solidFill>
                      <a:prstDash val="solid"/>
                      <a:round/>
                      <a:headEnd type="none" w="med" len="med"/>
                      <a:tailEnd type="none" w="med" len="med"/>
                    </a:lnL>
                    <a:lnR w="12700" cap="flat" cmpd="sng" algn="ctr">
                      <a:solidFill>
                        <a:srgbClr val="C8B6B4"/>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Q3</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3C2BF"/>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Is Monaco "won on Saturday"?</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χ², Mann–Whitney</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Only partly</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Q4</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Is F1 more dominated by one team?</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Kendall τ (segmented)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Yes since 1980, p = 0.009</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Q5</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Car or driver: which explains results?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Nested ANOVA</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Car 60%, driver 4.5%</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Q6</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Have cars become more reliable?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χ², Cramér's V</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Yes, finish 50% → 86%</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Q7</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Are pit crews more consistent?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Spearman trend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Yes, 35% tighter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Q8</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When do drivers peak?</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Bradley–Terry, LR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Age 28–30</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Q9</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Is there a home advantage?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Paired t, Wilcoxon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No, p = 0.41</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Q10</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Which nations produce the best drivers?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Binomial + Holm</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Germany 60%, Spain 62%</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Q11 A/B</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8B6B4"/>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Did the 2022 rules increase overtaking?</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B6B4"/>
                      </a:solidFill>
                      <a:prstDash val="solid"/>
                      <a:round/>
                      <a:headEnd type="none" w="med" len="med"/>
                      <a:tailEnd type="none" w="med" len="med"/>
                    </a:lnL>
                    <a:lnR w="12700" cap="flat" cmpd="sng" algn="ctr">
                      <a:solidFill>
                        <a:srgbClr val="C8B6B4"/>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Welch t, Mann–Whitney</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B6B4"/>
                      </a:solidFill>
                      <a:prstDash val="solid"/>
                      <a:round/>
                      <a:headEnd type="none" w="med" len="med"/>
                      <a:tailEnd type="none" w="med" len="med"/>
                    </a:lnL>
                    <a:lnR w="12700" cap="flat" cmpd="sng" algn="ctr">
                      <a:solidFill>
                        <a:srgbClr val="C8B6B4"/>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Yes, +13%, p = 0.023</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B6B4"/>
                      </a:solidFill>
                      <a:prstDash val="solid"/>
                      <a:round/>
                      <a:headEnd type="none" w="med" len="med"/>
                      <a:tailEnd type="none" w="med" len="med"/>
                    </a:lnL>
                    <a:lnR w="12700" cap="flat" cmpd="sng" algn="ctr">
                      <a:solidFill>
                        <a:srgbClr val="C8B6B4"/>
                      </a:solidFill>
                      <a:prstDash val="solid"/>
                      <a:round/>
                      <a:headEnd type="none" w="med" len="med"/>
                      <a:tailEnd type="none" w="med" len="med"/>
                    </a:lnR>
                    <a:lnT w="12700" cap="flat" cmpd="sng" algn="ctr">
                      <a:solidFill>
                        <a:srgbClr val="C3C2BF"/>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Q12 A/B</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8B6B4"/>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Street circuits: more crashes?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B6B4"/>
                      </a:solidFill>
                      <a:prstDash val="solid"/>
                      <a:round/>
                      <a:headEnd type="none" w="med" len="med"/>
                      <a:tailEnd type="none" w="med" len="med"/>
                    </a:lnL>
                    <a:lnR w="12700" cap="flat" cmpd="sng" algn="ctr">
                      <a:solidFill>
                        <a:srgbClr val="C8B6B4"/>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χ², Mann–Whitney</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B6B4"/>
                      </a:solidFill>
                      <a:prstDash val="solid"/>
                      <a:round/>
                      <a:headEnd type="none" w="med" len="med"/>
                      <a:tailEnd type="none" w="med" len="med"/>
                    </a:lnL>
                    <a:lnR w="12700" cap="flat" cmpd="sng" algn="ctr">
                      <a:solidFill>
                        <a:srgbClr val="C8B6B4"/>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Yes, +41% crashes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B6B4"/>
                      </a:solidFill>
                      <a:prstDash val="solid"/>
                      <a:round/>
                      <a:headEnd type="none" w="med" len="med"/>
                      <a:tailEnd type="none" w="med" len="med"/>
                    </a:lnL>
                    <a:lnR w="12700" cap="flat" cmpd="sng" algn="ctr">
                      <a:solidFill>
                        <a:srgbClr val="C8B6B4"/>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8B6B4"/>
                      </a:solidFill>
                      <a:prstDash val="solid"/>
                      <a:round/>
                      <a:headEnd type="none" w="med" len="med"/>
                      <a:tailEnd type="none" w="med" len="med"/>
                    </a:lnB>
                    <a:solidFill>
                      <a:srgbClr val="FBE4E2"/>
                    </a:solidFill>
                  </a:tcPr>
                </a:tc>
              </a:tr>
              <a:tr h="330200">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Q13</a:t>
                      </a:r>
                      <a:endParaRPr lang="en-US" sz="1200" dirty="0">
                        <a:latin typeface="Public Sans" charset="0"/>
                        <a:ea typeface="Public Sans" charset="0"/>
                        <a:cs typeface="Public Sans" charset="0"/>
                      </a:endParaRPr>
                    </a:p>
                  </a:txBody>
                  <a:tcPr marL="53340" marR="53340" marT="53340" marB="53340" anchor="t">
                    <a:lnL w="0" cap="flat" cmpd="sng" algn="ctr">
                      <a:noFill/>
                    </a:lnL>
                    <a:lnR w="12700" cap="flat" cmpd="sng" algn="ctr">
                      <a:solidFill>
                        <a:srgbClr val="C3C2BF"/>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When is the title decided?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Wilson CI, Fisher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c>
                  <a:txBody>
                    <a:bodyPr/>
                    <a:lstStyle/>
                    <a:p>
                      <a:pPr indent="0" marL="0">
                        <a:lnSpc>
                          <a:spcPts val="1680"/>
                        </a:lnSpc>
                        <a:buNone/>
                      </a:pPr>
                      <a:r>
                        <a:rPr lang="en-US" sz="1200" dirty="0">
                          <a:solidFill>
                            <a:srgbClr val="15151E"/>
                          </a:solidFill>
                          <a:latin typeface="Public Sans" pitchFamily="34" charset="0"/>
                          <a:ea typeface="Public Sans" pitchFamily="34" charset="-122"/>
                          <a:cs typeface="Public Sans" pitchFamily="34" charset="-120"/>
                        </a:rPr>
                        <a:t>Mid-season leader wins 74%</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3C2BF"/>
                      </a:solidFill>
                      <a:prstDash val="solid"/>
                      <a:round/>
                      <a:headEnd type="none" w="med" len="med"/>
                      <a:tailEnd type="none" w="med" len="med"/>
                    </a:lnL>
                    <a:lnR w="12700" cap="flat" cmpd="sng" algn="ctr">
                      <a:solidFill>
                        <a:srgbClr val="C3C2BF"/>
                      </a:solidFill>
                      <a:prstDash val="solid"/>
                      <a:round/>
                      <a:headEnd type="none" w="med" len="med"/>
                      <a:tailEnd type="none" w="med" len="med"/>
                    </a:lnR>
                    <a:lnT w="12700" cap="flat" cmpd="sng" algn="ctr">
                      <a:solidFill>
                        <a:srgbClr val="C8B6B4"/>
                      </a:solidFill>
                      <a:prstDash val="solid"/>
                      <a:round/>
                      <a:headEnd type="none" w="med" len="med"/>
                      <a:tailEnd type="none" w="med" len="med"/>
                    </a:lnT>
                    <a:lnB w="12700" cap="flat" cmpd="sng" algn="ctr">
                      <a:solidFill>
                        <a:srgbClr val="C3C2BF"/>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00500"/>
                </a:solidFill>
                <a:latin typeface="Public Sans" pitchFamily="34" charset="0"/>
                <a:ea typeface="Public Sans" pitchFamily="34" charset="-122"/>
                <a:cs typeface="Public Sans" pitchFamily="34" charset="-120"/>
              </a:rPr>
              <a:t>ML MODEL · MULTIPLE LINEAR REGRESSION</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51E"/>
                </a:solidFill>
                <a:latin typeface="Oswald" pitchFamily="34" charset="0"/>
                <a:ea typeface="Oswald" pitchFamily="34" charset="-122"/>
                <a:cs typeface="Oswald" pitchFamily="34" charset="-120"/>
              </a:rPr>
              <a:t>PREDICTING THE FINISH WITHIN 2.5 PLACES</a:t>
            </a:r>
            <a:endParaRPr lang="en-US" sz="3600" dirty="0"/>
          </a:p>
        </p:txBody>
      </p:sp>
      <p:sp>
        <p:nvSpPr>
          <p:cNvPr id="4" name="Shape 2"/>
          <p:cNvSpPr/>
          <p:nvPr/>
        </p:nvSpPr>
        <p:spPr>
          <a:xfrm>
            <a:off x="812800" y="1859282"/>
            <a:ext cx="1600200" cy="883920"/>
          </a:xfrm>
          <a:prstGeom prst="rect">
            <a:avLst/>
          </a:prstGeom>
          <a:solidFill>
            <a:srgbClr val="15151E"/>
          </a:solidFill>
          <a:ln/>
        </p:spPr>
      </p:sp>
      <p:sp>
        <p:nvSpPr>
          <p:cNvPr id="5" name="Text 3"/>
          <p:cNvSpPr/>
          <p:nvPr/>
        </p:nvSpPr>
        <p:spPr>
          <a:xfrm>
            <a:off x="965200" y="1986282"/>
            <a:ext cx="1346200"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5A4E"/>
                </a:solidFill>
                <a:latin typeface="Oswald" pitchFamily="34" charset="0"/>
                <a:ea typeface="Oswald" pitchFamily="34" charset="-122"/>
                <a:cs typeface="Oswald" pitchFamily="34" charset="-120"/>
              </a:rPr>
              <a:t>0.60</a:t>
            </a:r>
            <a:endParaRPr lang="en-US" sz="2800" dirty="0"/>
          </a:p>
        </p:txBody>
      </p:sp>
      <p:sp>
        <p:nvSpPr>
          <p:cNvPr id="6" name="Text 4"/>
          <p:cNvSpPr/>
          <p:nvPr/>
        </p:nvSpPr>
        <p:spPr>
          <a:xfrm>
            <a:off x="965200" y="2402839"/>
            <a:ext cx="134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test R²</a:t>
            </a:r>
            <a:endParaRPr lang="en-US" sz="1200" dirty="0"/>
          </a:p>
        </p:txBody>
      </p:sp>
      <p:sp>
        <p:nvSpPr>
          <p:cNvPr id="7" name="Shape 5"/>
          <p:cNvSpPr/>
          <p:nvPr/>
        </p:nvSpPr>
        <p:spPr>
          <a:xfrm>
            <a:off x="2514600" y="1859282"/>
            <a:ext cx="1600200" cy="883920"/>
          </a:xfrm>
          <a:prstGeom prst="rect">
            <a:avLst/>
          </a:prstGeom>
          <a:solidFill>
            <a:srgbClr val="15151E"/>
          </a:solidFill>
          <a:ln/>
        </p:spPr>
      </p:sp>
      <p:sp>
        <p:nvSpPr>
          <p:cNvPr id="8" name="Text 6"/>
          <p:cNvSpPr/>
          <p:nvPr/>
        </p:nvSpPr>
        <p:spPr>
          <a:xfrm>
            <a:off x="2667000" y="1986282"/>
            <a:ext cx="1346200"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5A4E"/>
                </a:solidFill>
                <a:latin typeface="Oswald" pitchFamily="34" charset="0"/>
                <a:ea typeface="Oswald" pitchFamily="34" charset="-122"/>
                <a:cs typeface="Oswald" pitchFamily="34" charset="-120"/>
              </a:rPr>
              <a:t>2.50</a:t>
            </a:r>
            <a:endParaRPr lang="en-US" sz="2800" dirty="0"/>
          </a:p>
        </p:txBody>
      </p:sp>
      <p:sp>
        <p:nvSpPr>
          <p:cNvPr id="9" name="Text 7"/>
          <p:cNvSpPr/>
          <p:nvPr/>
        </p:nvSpPr>
        <p:spPr>
          <a:xfrm>
            <a:off x="2667000" y="2402839"/>
            <a:ext cx="134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MAE, places</a:t>
            </a:r>
            <a:endParaRPr lang="en-US" sz="1200" dirty="0"/>
          </a:p>
        </p:txBody>
      </p:sp>
      <p:sp>
        <p:nvSpPr>
          <p:cNvPr id="10" name="Shape 8"/>
          <p:cNvSpPr/>
          <p:nvPr/>
        </p:nvSpPr>
        <p:spPr>
          <a:xfrm>
            <a:off x="812800" y="2844800"/>
            <a:ext cx="1600200" cy="883920"/>
          </a:xfrm>
          <a:prstGeom prst="rect">
            <a:avLst/>
          </a:prstGeom>
          <a:solidFill>
            <a:srgbClr val="15151E"/>
          </a:solidFill>
          <a:ln/>
        </p:spPr>
      </p:sp>
      <p:sp>
        <p:nvSpPr>
          <p:cNvPr id="11" name="Text 9"/>
          <p:cNvSpPr/>
          <p:nvPr/>
        </p:nvSpPr>
        <p:spPr>
          <a:xfrm>
            <a:off x="965200" y="2971800"/>
            <a:ext cx="1346200"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5A4E"/>
                </a:solidFill>
                <a:latin typeface="Oswald" pitchFamily="34" charset="0"/>
                <a:ea typeface="Oswald" pitchFamily="34" charset="-122"/>
                <a:cs typeface="Oswald" pitchFamily="34" charset="-120"/>
              </a:rPr>
              <a:t>−15%</a:t>
            </a:r>
            <a:endParaRPr lang="en-US" sz="2800" dirty="0"/>
          </a:p>
        </p:txBody>
      </p:sp>
      <p:sp>
        <p:nvSpPr>
          <p:cNvPr id="12" name="Text 10"/>
          <p:cNvSpPr/>
          <p:nvPr/>
        </p:nvSpPr>
        <p:spPr>
          <a:xfrm>
            <a:off x="965200" y="3388361"/>
            <a:ext cx="134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RMSE vs baseline</a:t>
            </a:r>
            <a:endParaRPr lang="en-US" sz="1200" dirty="0"/>
          </a:p>
        </p:txBody>
      </p:sp>
      <p:sp>
        <p:nvSpPr>
          <p:cNvPr id="13" name="Shape 11"/>
          <p:cNvSpPr/>
          <p:nvPr/>
        </p:nvSpPr>
        <p:spPr>
          <a:xfrm>
            <a:off x="2514600" y="2844800"/>
            <a:ext cx="1600200" cy="883920"/>
          </a:xfrm>
          <a:prstGeom prst="rect">
            <a:avLst/>
          </a:prstGeom>
          <a:solidFill>
            <a:srgbClr val="15151E"/>
          </a:solidFill>
          <a:ln/>
        </p:spPr>
      </p:sp>
      <p:sp>
        <p:nvSpPr>
          <p:cNvPr id="14" name="Text 12"/>
          <p:cNvSpPr/>
          <p:nvPr/>
        </p:nvSpPr>
        <p:spPr>
          <a:xfrm>
            <a:off x="2667000" y="2971800"/>
            <a:ext cx="1346200"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5A4E"/>
                </a:solidFill>
                <a:latin typeface="Oswald" pitchFamily="34" charset="0"/>
                <a:ea typeface="Oswald" pitchFamily="34" charset="-122"/>
                <a:cs typeface="Oswald" pitchFamily="34" charset="-120"/>
              </a:rPr>
              <a:t>= RF</a:t>
            </a:r>
            <a:endParaRPr lang="en-US" sz="2800" dirty="0"/>
          </a:p>
        </p:txBody>
      </p:sp>
      <p:sp>
        <p:nvSpPr>
          <p:cNvPr id="15" name="Text 13"/>
          <p:cNvSpPr/>
          <p:nvPr/>
        </p:nvSpPr>
        <p:spPr>
          <a:xfrm>
            <a:off x="2667000" y="3388361"/>
            <a:ext cx="134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as accurate</a:t>
            </a:r>
            <a:endParaRPr lang="en-US" sz="1200" dirty="0"/>
          </a:p>
        </p:txBody>
      </p:sp>
      <p:sp>
        <p:nvSpPr>
          <p:cNvPr id="16" name="Shape 14"/>
          <p:cNvSpPr/>
          <p:nvPr/>
        </p:nvSpPr>
        <p:spPr>
          <a:xfrm>
            <a:off x="4318000" y="1859282"/>
            <a:ext cx="7061200" cy="2679700"/>
          </a:xfrm>
          <a:prstGeom prst="rect">
            <a:avLst/>
          </a:prstGeom>
          <a:solidFill>
            <a:srgbClr val="FFFFFF"/>
          </a:solidFill>
          <a:ln/>
        </p:spPr>
      </p:sp>
      <p:pic>
        <p:nvPicPr>
          <p:cNvPr id="17" name="Image 0" descr="Left: actual vs predicted finishing positions for 2024–25 clustering around the diagonal. Right: mean absolute error bars; linear regression 2.50, random forest 2.51, gradient boosting 2.58, finish-equals-grid baseline 2.72, mean baseline 4.53">    </p:cNvPr>
          <p:cNvPicPr>
            <a:picLocks noChangeAspect="1"/>
          </p:cNvPicPr>
          <p:nvPr/>
        </p:nvPicPr>
        <p:blipFill>
          <a:blip r:embed="rId1"/>
          <a:srcRect l="0" r="0" t="-970" b="-970"/>
          <a:stretch/>
        </p:blipFill>
        <p:spPr>
          <a:xfrm>
            <a:off x="4394200" y="1935482"/>
            <a:ext cx="6908800" cy="2527300"/>
          </a:xfrm>
          <a:prstGeom prst="rect">
            <a:avLst/>
          </a:prstGeom>
        </p:spPr>
      </p:pic>
      <p:sp>
        <p:nvSpPr>
          <p:cNvPr id="18" name="Text 15"/>
          <p:cNvSpPr/>
          <p:nvPr/>
        </p:nvSpPr>
        <p:spPr>
          <a:xfrm>
            <a:off x="812800" y="4792982"/>
            <a:ext cx="3523122" cy="68834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151E"/>
                </a:solidFill>
                <a:latin typeface="Public Sans" pitchFamily="34" charset="0"/>
                <a:ea typeface="Public Sans" pitchFamily="34" charset="-122"/>
                <a:cs typeface="Public Sans" pitchFamily="34" charset="-120"/>
              </a:rPr>
              <a:t>Why linear:</a:t>
            </a:r>
            <a:r>
              <a:rPr lang="en-US" sz="1200" dirty="0">
                <a:solidFill>
                  <a:srgbClr val="3D4250"/>
                </a:solidFill>
                <a:latin typeface="Public Sans" pitchFamily="34" charset="0"/>
                <a:ea typeface="Public Sans" pitchFamily="34" charset="-122"/>
                <a:cs typeface="Public Sans" pitchFamily="34" charset="-120"/>
              </a:rPr>
              <a:t> numeric target, interpretable coefficients, and Random Forest adds no accuracy</a:t>
            </a:r>
            <a:endParaRPr lang="en-US" sz="1200" dirty="0"/>
          </a:p>
        </p:txBody>
      </p:sp>
      <p:sp>
        <p:nvSpPr>
          <p:cNvPr id="19" name="Text 16"/>
          <p:cNvSpPr/>
          <p:nvPr/>
        </p:nvSpPr>
        <p:spPr>
          <a:xfrm>
            <a:off x="4385707" y="4792982"/>
            <a:ext cx="3523204" cy="68834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151E"/>
                </a:solidFill>
                <a:latin typeface="Public Sans" pitchFamily="34" charset="0"/>
                <a:ea typeface="Public Sans" pitchFamily="34" charset="-122"/>
                <a:cs typeface="Public Sans" pitchFamily="34" charset="-120"/>
              </a:rPr>
              <a:t>Validation:</a:t>
            </a:r>
            <a:r>
              <a:rPr lang="en-US" sz="1200" dirty="0">
                <a:solidFill>
                  <a:srgbClr val="3D4250"/>
                </a:solidFill>
                <a:latin typeface="Public Sans" pitchFamily="34" charset="0"/>
                <a:ea typeface="Public Sans" pitchFamily="34" charset="-122"/>
                <a:cs typeface="Public Sans" pitchFamily="34" charset="-120"/>
              </a:rPr>
              <a:t> trained 2014–23, tested on unseen 2024–25; no pre-race data leakage</a:t>
            </a:r>
            <a:endParaRPr lang="en-US" sz="1200" dirty="0"/>
          </a:p>
        </p:txBody>
      </p:sp>
      <p:sp>
        <p:nvSpPr>
          <p:cNvPr id="20" name="Text 17"/>
          <p:cNvSpPr/>
          <p:nvPr/>
        </p:nvSpPr>
        <p:spPr>
          <a:xfrm>
            <a:off x="7958693" y="4792982"/>
            <a:ext cx="3523122" cy="68834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151E"/>
                </a:solidFill>
                <a:latin typeface="Public Sans" pitchFamily="34" charset="0"/>
                <a:ea typeface="Public Sans" pitchFamily="34" charset="-122"/>
                <a:cs typeface="Public Sans" pitchFamily="34" charset="-120"/>
              </a:rPr>
              <a:t>Assumptions:</a:t>
            </a:r>
            <a:r>
              <a:rPr lang="en-US" sz="1200" dirty="0">
                <a:solidFill>
                  <a:srgbClr val="3D4250"/>
                </a:solidFill>
                <a:latin typeface="Public Sans" pitchFamily="34" charset="0"/>
                <a:ea typeface="Public Sans" pitchFamily="34" charset="-122"/>
                <a:cs typeface="Public Sans" pitchFamily="34" charset="-120"/>
              </a:rPr>
              <a:t> VIF ≤ 3.2, race-clustered robust errors, residual checks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00500"/>
                </a:solidFill>
                <a:latin typeface="Public Sans" pitchFamily="34" charset="0"/>
                <a:ea typeface="Public Sans" pitchFamily="34" charset="-122"/>
                <a:cs typeface="Public Sans" pitchFamily="34" charset="-120"/>
              </a:rPr>
              <a:t>VISUALIZATION · PYTHON DASHBOARD</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51E"/>
                </a:solidFill>
                <a:latin typeface="Oswald" pitchFamily="34" charset="0"/>
                <a:ea typeface="Oswald" pitchFamily="34" charset="-122"/>
                <a:cs typeface="Oswald" pitchFamily="34" charset="-120"/>
              </a:rPr>
              <a:t>THE WHOLE STUDY ON ONE SCREEN</a:t>
            </a:r>
            <a:endParaRPr lang="en-US" sz="3600" dirty="0"/>
          </a:p>
        </p:txBody>
      </p:sp>
      <p:sp>
        <p:nvSpPr>
          <p:cNvPr id="4" name="Shape 2"/>
          <p:cNvSpPr/>
          <p:nvPr/>
        </p:nvSpPr>
        <p:spPr>
          <a:xfrm>
            <a:off x="812800" y="1808482"/>
            <a:ext cx="6883400" cy="4216400"/>
          </a:xfrm>
          <a:prstGeom prst="rect">
            <a:avLst/>
          </a:prstGeom>
          <a:solidFill>
            <a:srgbClr val="FFFFFF"/>
          </a:solidFill>
          <a:ln/>
        </p:spPr>
      </p:sp>
      <p:pic>
        <p:nvPicPr>
          <p:cNvPr id="5" name="Image 0" descr="F1 analytics dashboard with five KPI tiles (1,138 races, 54% pole-to-win, 86% finish rate, 60% car share of variance, 2.50 model MAE) above six charts on dominance, pole conversion, race outcomes, car versus driver, experience and age effects, and model coefficients">    </p:cNvPr>
          <p:cNvPicPr>
            <a:picLocks noChangeAspect="1"/>
          </p:cNvPicPr>
          <p:nvPr/>
        </p:nvPicPr>
        <p:blipFill>
          <a:blip r:embed="rId1"/>
          <a:srcRect l="-6832" r="-6832" t="0" b="0"/>
          <a:stretch/>
        </p:blipFill>
        <p:spPr>
          <a:xfrm>
            <a:off x="889000" y="1884682"/>
            <a:ext cx="6731000" cy="4064000"/>
          </a:xfrm>
          <a:prstGeom prst="rect">
            <a:avLst/>
          </a:prstGeom>
        </p:spPr>
      </p:pic>
      <p:sp>
        <p:nvSpPr>
          <p:cNvPr id="6" name="Text 3"/>
          <p:cNvSpPr/>
          <p:nvPr/>
        </p:nvSpPr>
        <p:spPr>
          <a:xfrm>
            <a:off x="7950200" y="1808482"/>
            <a:ext cx="3531870"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10600"/>
                </a:solidFill>
                <a:latin typeface="Oswald" pitchFamily="34" charset="0"/>
                <a:ea typeface="Oswald" pitchFamily="34" charset="-122"/>
                <a:cs typeface="Oswald" pitchFamily="34" charset="-120"/>
              </a:rPr>
              <a:t>22 charts</a:t>
            </a:r>
            <a:endParaRPr lang="en-US" sz="2800" dirty="0"/>
          </a:p>
        </p:txBody>
      </p:sp>
      <p:sp>
        <p:nvSpPr>
          <p:cNvPr id="7" name="Text 4"/>
          <p:cNvSpPr/>
          <p:nvPr/>
        </p:nvSpPr>
        <p:spPr>
          <a:xfrm>
            <a:off x="7950200" y="2225039"/>
            <a:ext cx="35318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every chart titled, axes labelled</a:t>
            </a:r>
            <a:endParaRPr lang="en-US" sz="1200" dirty="0"/>
          </a:p>
        </p:txBody>
      </p:sp>
      <p:sp>
        <p:nvSpPr>
          <p:cNvPr id="8" name="Text 5"/>
          <p:cNvSpPr/>
          <p:nvPr/>
        </p:nvSpPr>
        <p:spPr>
          <a:xfrm>
            <a:off x="7950200" y="2590800"/>
            <a:ext cx="3531870" cy="9398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5151E"/>
                </a:solidFill>
                <a:latin typeface="Public Sans" pitchFamily="34" charset="0"/>
                <a:ea typeface="Public Sans" pitchFamily="34" charset="-122"/>
                <a:cs typeface="Public Sans" pitchFamily="34" charset="-120"/>
              </a:rPr>
              <a:t>Chart types used:</a:t>
            </a:r>
            <a:r>
              <a:rPr lang="en-US" sz="1200" dirty="0">
                <a:solidFill>
                  <a:srgbClr val="3D4250"/>
                </a:solidFill>
                <a:latin typeface="Public Sans" pitchFamily="34" charset="0"/>
                <a:ea typeface="Public Sans" pitchFamily="34" charset="-122"/>
                <a:cs typeface="Public Sans" pitchFamily="34" charset="-120"/>
              </a:rPr>
              <a:t> bar, stacked and grouped bar, line, area, histogram, KDE, box, violin, strip, ECDF, heatmap, hexbin, lollipop, dumbbell, donut, error bars, Q–Q, residual plots, map</a:t>
            </a:r>
            <a:endParaRPr lang="en-US" sz="1200" dirty="0"/>
          </a:p>
        </p:txBody>
      </p:sp>
      <p:sp>
        <p:nvSpPr>
          <p:cNvPr id="9" name="Text 6"/>
          <p:cNvSpPr/>
          <p:nvPr/>
        </p:nvSpPr>
        <p:spPr>
          <a:xfrm>
            <a:off x="7950200" y="3657600"/>
            <a:ext cx="3531870"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5151E"/>
                </a:solidFill>
                <a:latin typeface="Public Sans" pitchFamily="34" charset="0"/>
                <a:ea typeface="Public Sans" pitchFamily="34" charset="-122"/>
                <a:cs typeface="Public Sans" pitchFamily="34" charset="-120"/>
              </a:rPr>
              <a:t>Interactive:</a:t>
            </a:r>
            <a:r>
              <a:rPr lang="en-US" sz="1200" dirty="0">
                <a:solidFill>
                  <a:srgbClr val="3D4250"/>
                </a:solidFill>
                <a:latin typeface="Public Sans" pitchFamily="34" charset="0"/>
                <a:ea typeface="Public Sans" pitchFamily="34" charset="-122"/>
                <a:cs typeface="Public Sans" pitchFamily="34" charset="-120"/>
              </a:rPr>
              <a:t> Plotly season explorer and circuit world map</a:t>
            </a:r>
            <a:endParaRPr lang="en-US" sz="1200" dirty="0"/>
          </a:p>
        </p:txBody>
      </p:sp>
      <p:sp>
        <p:nvSpPr>
          <p:cNvPr id="10" name="Text 7"/>
          <p:cNvSpPr/>
          <p:nvPr/>
        </p:nvSpPr>
        <p:spPr>
          <a:xfrm>
            <a:off x="7950200" y="4267200"/>
            <a:ext cx="4114800"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5151E"/>
                </a:solidFill>
                <a:latin typeface="Public Sans" pitchFamily="34" charset="0"/>
                <a:ea typeface="Public Sans" pitchFamily="34" charset="-122"/>
                <a:cs typeface="Public Sans" pitchFamily="34" charset="-120"/>
              </a:rPr>
              <a:t>Power BI ready:</a:t>
            </a:r>
            <a:r>
              <a:rPr lang="en-US" sz="1200" dirty="0">
                <a:solidFill>
                  <a:srgbClr val="3D4250"/>
                </a:solidFill>
                <a:latin typeface="Public Sans" pitchFamily="34" charset="0"/>
                <a:ea typeface="Public Sans" pitchFamily="34" charset="-122"/>
                <a:cs typeface="Public Sans" pitchFamily="34" charset="-120"/>
              </a:rPr>
              <a:t> 3 clean tables exported to CSV</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51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5A4E"/>
                </a:solidFill>
                <a:latin typeface="Public Sans" pitchFamily="34" charset="0"/>
                <a:ea typeface="Public Sans" pitchFamily="34" charset="-122"/>
                <a:cs typeface="Public Sans" pitchFamily="34" charset="-120"/>
              </a:rPr>
              <a:t>KEY FINDINGS AND INTERPRETATION</a:t>
            </a:r>
            <a:endParaRPr lang="en-US" sz="1200" dirty="0"/>
          </a:p>
        </p:txBody>
      </p:sp>
      <p:sp>
        <p:nvSpPr>
          <p:cNvPr id="3" name="Text 1"/>
          <p:cNvSpPr/>
          <p:nvPr>
            <p:ph type="title"/>
          </p:nvPr>
        </p:nvSpPr>
        <p:spPr>
          <a:xfrm>
            <a:off x="812800" y="11023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3EF"/>
                </a:solidFill>
                <a:latin typeface="Oswald" pitchFamily="34" charset="0"/>
                <a:ea typeface="Oswald" pitchFamily="34" charset="-122"/>
                <a:cs typeface="Oswald" pitchFamily="34" charset="-120"/>
              </a:rPr>
              <a:t>A RACE IS MOSTLY DECIDED BEFORE IT STARTS</a:t>
            </a:r>
            <a:endParaRPr lang="en-US" sz="3600" dirty="0"/>
          </a:p>
        </p:txBody>
      </p:sp>
      <p:sp>
        <p:nvSpPr>
          <p:cNvPr id="4" name="Shape 2"/>
          <p:cNvSpPr/>
          <p:nvPr/>
        </p:nvSpPr>
        <p:spPr>
          <a:xfrm>
            <a:off x="812800" y="1910079"/>
            <a:ext cx="3420507" cy="1371600"/>
          </a:xfrm>
          <a:prstGeom prst="rect">
            <a:avLst/>
          </a:prstGeom>
          <a:solidFill>
            <a:srgbClr val="22222E"/>
          </a:solidFill>
          <a:ln/>
        </p:spPr>
      </p:sp>
      <p:sp>
        <p:nvSpPr>
          <p:cNvPr id="5" name="Shape 3"/>
          <p:cNvSpPr/>
          <p:nvPr/>
        </p:nvSpPr>
        <p:spPr>
          <a:xfrm>
            <a:off x="812800" y="1929129"/>
            <a:ext cx="3420507" cy="0"/>
          </a:xfrm>
          <a:prstGeom prst="line">
            <a:avLst/>
          </a:prstGeom>
          <a:noFill/>
          <a:ln w="38100">
            <a:solidFill>
              <a:srgbClr val="E10600"/>
            </a:solidFill>
            <a:prstDash val="solid"/>
          </a:ln>
        </p:spPr>
      </p:sp>
      <p:sp>
        <p:nvSpPr>
          <p:cNvPr id="6" name="Text 4"/>
          <p:cNvSpPr/>
          <p:nvPr/>
        </p:nvSpPr>
        <p:spPr>
          <a:xfrm>
            <a:off x="1016000" y="2123442"/>
            <a:ext cx="310453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5A4E"/>
                </a:solidFill>
                <a:latin typeface="Oswald" pitchFamily="34" charset="0"/>
                <a:ea typeface="Oswald" pitchFamily="34" charset="-122"/>
                <a:cs typeface="Oswald" pitchFamily="34" charset="-120"/>
              </a:rPr>
              <a:t>13.6×</a:t>
            </a:r>
            <a:endParaRPr lang="en-US" sz="3600" dirty="0"/>
          </a:p>
        </p:txBody>
      </p:sp>
      <p:sp>
        <p:nvSpPr>
          <p:cNvPr id="7" name="Text 5"/>
          <p:cNvSpPr/>
          <p:nvPr/>
        </p:nvSpPr>
        <p:spPr>
          <a:xfrm>
            <a:off x="1016000" y="2677164"/>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The car explains far more than the driver (60% vs 4.5% of variance)</a:t>
            </a:r>
            <a:endParaRPr lang="en-US" sz="1200" dirty="0"/>
          </a:p>
        </p:txBody>
      </p:sp>
      <p:sp>
        <p:nvSpPr>
          <p:cNvPr id="8" name="Shape 6"/>
          <p:cNvSpPr/>
          <p:nvPr/>
        </p:nvSpPr>
        <p:spPr>
          <a:xfrm>
            <a:off x="4385707" y="1910079"/>
            <a:ext cx="3420507" cy="1371600"/>
          </a:xfrm>
          <a:prstGeom prst="rect">
            <a:avLst/>
          </a:prstGeom>
          <a:solidFill>
            <a:srgbClr val="22222E"/>
          </a:solidFill>
          <a:ln/>
        </p:spPr>
      </p:sp>
      <p:sp>
        <p:nvSpPr>
          <p:cNvPr id="9" name="Shape 7"/>
          <p:cNvSpPr/>
          <p:nvPr/>
        </p:nvSpPr>
        <p:spPr>
          <a:xfrm>
            <a:off x="4385707" y="1929129"/>
            <a:ext cx="3420507" cy="0"/>
          </a:xfrm>
          <a:prstGeom prst="line">
            <a:avLst/>
          </a:prstGeom>
          <a:noFill/>
          <a:ln w="38100">
            <a:solidFill>
              <a:srgbClr val="E10600"/>
            </a:solidFill>
            <a:prstDash val="solid"/>
          </a:ln>
        </p:spPr>
      </p:sp>
      <p:sp>
        <p:nvSpPr>
          <p:cNvPr id="10" name="Text 8"/>
          <p:cNvSpPr/>
          <p:nvPr/>
        </p:nvSpPr>
        <p:spPr>
          <a:xfrm>
            <a:off x="4588907" y="2123442"/>
            <a:ext cx="310453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5A4E"/>
                </a:solidFill>
                <a:latin typeface="Oswald" pitchFamily="34" charset="0"/>
                <a:ea typeface="Oswald" pitchFamily="34" charset="-122"/>
                <a:cs typeface="Oswald" pitchFamily="34" charset="-120"/>
              </a:rPr>
              <a:t>~50%</a:t>
            </a:r>
            <a:endParaRPr lang="en-US" sz="3600" dirty="0"/>
          </a:p>
        </p:txBody>
      </p:sp>
      <p:sp>
        <p:nvSpPr>
          <p:cNvPr id="11" name="Text 9"/>
          <p:cNvSpPr/>
          <p:nvPr/>
        </p:nvSpPr>
        <p:spPr>
          <a:xfrm>
            <a:off x="4588907" y="2677164"/>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Pole wins half of races, unchanged by the hybrid era (p = 0.35)</a:t>
            </a:r>
            <a:endParaRPr lang="en-US" sz="1200" dirty="0"/>
          </a:p>
        </p:txBody>
      </p:sp>
      <p:sp>
        <p:nvSpPr>
          <p:cNvPr id="12" name="Shape 10"/>
          <p:cNvSpPr/>
          <p:nvPr/>
        </p:nvSpPr>
        <p:spPr>
          <a:xfrm>
            <a:off x="7958614" y="1910079"/>
            <a:ext cx="3420507" cy="1371600"/>
          </a:xfrm>
          <a:prstGeom prst="rect">
            <a:avLst/>
          </a:prstGeom>
          <a:solidFill>
            <a:srgbClr val="22222E"/>
          </a:solidFill>
          <a:ln/>
        </p:spPr>
      </p:sp>
      <p:sp>
        <p:nvSpPr>
          <p:cNvPr id="13" name="Shape 11"/>
          <p:cNvSpPr/>
          <p:nvPr/>
        </p:nvSpPr>
        <p:spPr>
          <a:xfrm>
            <a:off x="7958614" y="1929129"/>
            <a:ext cx="3420507" cy="0"/>
          </a:xfrm>
          <a:prstGeom prst="line">
            <a:avLst/>
          </a:prstGeom>
          <a:noFill/>
          <a:ln w="38100">
            <a:solidFill>
              <a:srgbClr val="E10600"/>
            </a:solidFill>
            <a:prstDash val="solid"/>
          </a:ln>
        </p:spPr>
      </p:sp>
      <p:sp>
        <p:nvSpPr>
          <p:cNvPr id="14" name="Text 12"/>
          <p:cNvSpPr/>
          <p:nvPr/>
        </p:nvSpPr>
        <p:spPr>
          <a:xfrm>
            <a:off x="8161814" y="2123442"/>
            <a:ext cx="310453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5A4E"/>
                </a:solidFill>
                <a:latin typeface="Oswald" pitchFamily="34" charset="0"/>
                <a:ea typeface="Oswald" pitchFamily="34" charset="-122"/>
                <a:cs typeface="Oswald" pitchFamily="34" charset="-120"/>
              </a:rPr>
              <a:t>+13%</a:t>
            </a:r>
            <a:endParaRPr lang="en-US" sz="3600" dirty="0"/>
          </a:p>
        </p:txBody>
      </p:sp>
      <p:sp>
        <p:nvSpPr>
          <p:cNvPr id="15" name="Text 13"/>
          <p:cNvSpPr/>
          <p:nvPr/>
        </p:nvSpPr>
        <p:spPr>
          <a:xfrm>
            <a:off x="8161814" y="2677164"/>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2022 rules raised overtaking: significant, small, fading after 2023</a:t>
            </a:r>
            <a:endParaRPr lang="en-US" sz="1200" dirty="0"/>
          </a:p>
        </p:txBody>
      </p:sp>
      <p:sp>
        <p:nvSpPr>
          <p:cNvPr id="16" name="Shape 14"/>
          <p:cNvSpPr/>
          <p:nvPr/>
        </p:nvSpPr>
        <p:spPr>
          <a:xfrm>
            <a:off x="812800" y="3434079"/>
            <a:ext cx="3420507" cy="1371600"/>
          </a:xfrm>
          <a:prstGeom prst="rect">
            <a:avLst/>
          </a:prstGeom>
          <a:solidFill>
            <a:srgbClr val="22222E"/>
          </a:solidFill>
          <a:ln/>
        </p:spPr>
      </p:sp>
      <p:sp>
        <p:nvSpPr>
          <p:cNvPr id="17" name="Shape 15"/>
          <p:cNvSpPr/>
          <p:nvPr/>
        </p:nvSpPr>
        <p:spPr>
          <a:xfrm>
            <a:off x="812800" y="3453129"/>
            <a:ext cx="3420507" cy="0"/>
          </a:xfrm>
          <a:prstGeom prst="line">
            <a:avLst/>
          </a:prstGeom>
          <a:noFill/>
          <a:ln w="38100">
            <a:solidFill>
              <a:srgbClr val="6FA8DC"/>
            </a:solidFill>
            <a:prstDash val="solid"/>
          </a:ln>
        </p:spPr>
      </p:sp>
      <p:sp>
        <p:nvSpPr>
          <p:cNvPr id="18" name="Text 16"/>
          <p:cNvSpPr/>
          <p:nvPr/>
        </p:nvSpPr>
        <p:spPr>
          <a:xfrm>
            <a:off x="1016000" y="3647442"/>
            <a:ext cx="310453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9CC3E6"/>
                </a:solidFill>
                <a:latin typeface="Oswald" pitchFamily="34" charset="0"/>
                <a:ea typeface="Oswald" pitchFamily="34" charset="-122"/>
                <a:cs typeface="Oswald" pitchFamily="34" charset="-120"/>
              </a:rPr>
              <a:t>2.1</a:t>
            </a:r>
            <a:endParaRPr lang="en-US" sz="3600" dirty="0"/>
          </a:p>
        </p:txBody>
      </p:sp>
      <p:sp>
        <p:nvSpPr>
          <p:cNvPr id="19" name="Text 17"/>
          <p:cNvSpPr/>
          <p:nvPr/>
        </p:nvSpPr>
        <p:spPr>
          <a:xfrm>
            <a:off x="1016000" y="4201164"/>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effective winning teams in the 2020s: dominance rising since 1980</a:t>
            </a:r>
            <a:endParaRPr lang="en-US" sz="1200" dirty="0"/>
          </a:p>
        </p:txBody>
      </p:sp>
      <p:sp>
        <p:nvSpPr>
          <p:cNvPr id="20" name="Shape 18"/>
          <p:cNvSpPr/>
          <p:nvPr/>
        </p:nvSpPr>
        <p:spPr>
          <a:xfrm>
            <a:off x="4385707" y="3434079"/>
            <a:ext cx="3420507" cy="1371600"/>
          </a:xfrm>
          <a:prstGeom prst="rect">
            <a:avLst/>
          </a:prstGeom>
          <a:solidFill>
            <a:srgbClr val="22222E"/>
          </a:solidFill>
          <a:ln/>
        </p:spPr>
      </p:sp>
      <p:sp>
        <p:nvSpPr>
          <p:cNvPr id="21" name="Shape 19"/>
          <p:cNvSpPr/>
          <p:nvPr/>
        </p:nvSpPr>
        <p:spPr>
          <a:xfrm>
            <a:off x="4385707" y="3453129"/>
            <a:ext cx="3420507" cy="0"/>
          </a:xfrm>
          <a:prstGeom prst="line">
            <a:avLst/>
          </a:prstGeom>
          <a:noFill/>
          <a:ln w="38100">
            <a:solidFill>
              <a:srgbClr val="6FA8DC"/>
            </a:solidFill>
            <a:prstDash val="solid"/>
          </a:ln>
        </p:spPr>
      </p:sp>
      <p:sp>
        <p:nvSpPr>
          <p:cNvPr id="22" name="Text 20"/>
          <p:cNvSpPr/>
          <p:nvPr/>
        </p:nvSpPr>
        <p:spPr>
          <a:xfrm>
            <a:off x="4588907" y="3647442"/>
            <a:ext cx="310453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9CC3E6"/>
                </a:solidFill>
                <a:latin typeface="Oswald" pitchFamily="34" charset="0"/>
                <a:ea typeface="Oswald" pitchFamily="34" charset="-122"/>
                <a:cs typeface="Oswald" pitchFamily="34" charset="-120"/>
              </a:rPr>
              <a:t>28–30</a:t>
            </a:r>
            <a:endParaRPr lang="en-US" sz="3600" dirty="0"/>
          </a:p>
        </p:txBody>
      </p:sp>
      <p:sp>
        <p:nvSpPr>
          <p:cNvPr id="23" name="Text 21"/>
          <p:cNvSpPr/>
          <p:nvPr/>
        </p:nvSpPr>
        <p:spPr>
          <a:xfrm>
            <a:off x="4588907" y="4201164"/>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peak age: experience helps, age hurts, as separate forces</a:t>
            </a:r>
            <a:endParaRPr lang="en-US" sz="1200" dirty="0"/>
          </a:p>
        </p:txBody>
      </p:sp>
      <p:sp>
        <p:nvSpPr>
          <p:cNvPr id="24" name="Shape 22"/>
          <p:cNvSpPr/>
          <p:nvPr/>
        </p:nvSpPr>
        <p:spPr>
          <a:xfrm>
            <a:off x="7958614" y="3434079"/>
            <a:ext cx="3420507" cy="1371600"/>
          </a:xfrm>
          <a:prstGeom prst="rect">
            <a:avLst/>
          </a:prstGeom>
          <a:solidFill>
            <a:srgbClr val="22222E"/>
          </a:solidFill>
          <a:ln/>
        </p:spPr>
      </p:sp>
      <p:sp>
        <p:nvSpPr>
          <p:cNvPr id="25" name="Shape 23"/>
          <p:cNvSpPr/>
          <p:nvPr/>
        </p:nvSpPr>
        <p:spPr>
          <a:xfrm>
            <a:off x="7958614" y="3453129"/>
            <a:ext cx="3420507" cy="0"/>
          </a:xfrm>
          <a:prstGeom prst="line">
            <a:avLst/>
          </a:prstGeom>
          <a:noFill/>
          <a:ln w="38100">
            <a:solidFill>
              <a:srgbClr val="6FA8DC"/>
            </a:solidFill>
            <a:prstDash val="solid"/>
          </a:ln>
        </p:spPr>
      </p:sp>
      <p:sp>
        <p:nvSpPr>
          <p:cNvPr id="26" name="Text 24"/>
          <p:cNvSpPr/>
          <p:nvPr/>
        </p:nvSpPr>
        <p:spPr>
          <a:xfrm>
            <a:off x="8161814" y="3647442"/>
            <a:ext cx="310453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9CC3E6"/>
                </a:solidFill>
                <a:latin typeface="Oswald" pitchFamily="34" charset="0"/>
                <a:ea typeface="Oswald" pitchFamily="34" charset="-122"/>
                <a:cs typeface="Oswald" pitchFamily="34" charset="-120"/>
              </a:rPr>
              <a:t>No</a:t>
            </a:r>
            <a:endParaRPr lang="en-US" sz="3600" dirty="0"/>
          </a:p>
        </p:txBody>
      </p:sp>
      <p:sp>
        <p:nvSpPr>
          <p:cNvPr id="27" name="Text 25"/>
          <p:cNvSpPr/>
          <p:nvPr/>
        </p:nvSpPr>
        <p:spPr>
          <a:xfrm>
            <a:off x="8161814" y="4201164"/>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6"/>
                </a:solidFill>
                <a:latin typeface="Public Sans" pitchFamily="34" charset="0"/>
                <a:ea typeface="Public Sans" pitchFamily="34" charset="-122"/>
                <a:cs typeface="Public Sans" pitchFamily="34" charset="-120"/>
              </a:rPr>
              <a:t>home advantage (p = 0.41): a belief rejected by the data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00500"/>
                </a:solidFill>
                <a:latin typeface="Public Sans" pitchFamily="34" charset="0"/>
                <a:ea typeface="Public Sans" pitchFamily="34" charset="-122"/>
                <a:cs typeface="Public Sans" pitchFamily="34" charset="-120"/>
              </a:rPr>
              <a:t>CONCLUSION AND LIMITATIONS</a:t>
            </a:r>
            <a:endParaRPr lang="en-US" sz="1200" dirty="0"/>
          </a:p>
        </p:txBody>
      </p:sp>
      <p:sp>
        <p:nvSpPr>
          <p:cNvPr id="3" name="Text 1"/>
          <p:cNvSpPr/>
          <p:nvPr>
            <p:ph type="title"/>
          </p:nvPr>
        </p:nvSpPr>
        <p:spPr>
          <a:xfrm>
            <a:off x="812800" y="11023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51E"/>
                </a:solidFill>
                <a:latin typeface="Oswald" pitchFamily="34" charset="0"/>
                <a:ea typeface="Oswald" pitchFamily="34" charset="-122"/>
                <a:cs typeface="Oswald" pitchFamily="34" charset="-120"/>
              </a:rPr>
              <a:t>CAR AND QUALIFYING DECIDE; RACE DAY ADDS A THIRD</a:t>
            </a:r>
            <a:endParaRPr lang="en-US" sz="3600" dirty="0"/>
          </a:p>
        </p:txBody>
      </p:sp>
      <p:sp>
        <p:nvSpPr>
          <p:cNvPr id="4" name="Text 2"/>
          <p:cNvSpPr/>
          <p:nvPr/>
        </p:nvSpPr>
        <p:spPr>
          <a:xfrm>
            <a:off x="812800" y="1910079"/>
            <a:ext cx="499694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10600"/>
                </a:solidFill>
                <a:latin typeface="Oswald" pitchFamily="34" charset="0"/>
                <a:ea typeface="Oswald" pitchFamily="34" charset="-122"/>
                <a:cs typeface="Oswald" pitchFamily="34" charset="-120"/>
              </a:rPr>
              <a:t>CONCLUSION</a:t>
            </a:r>
            <a:endParaRPr lang="en-US" sz="1800" dirty="0"/>
          </a:p>
        </p:txBody>
      </p:sp>
      <p:sp>
        <p:nvSpPr>
          <p:cNvPr id="5" name="Text 3"/>
          <p:cNvSpPr/>
          <p:nvPr/>
        </p:nvSpPr>
        <p:spPr>
          <a:xfrm>
            <a:off x="812800" y="2336800"/>
            <a:ext cx="499694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250"/>
                </a:solidFill>
                <a:latin typeface="Public Sans" pitchFamily="34" charset="0"/>
                <a:ea typeface="Public Sans" pitchFamily="34" charset="-122"/>
                <a:cs typeface="Public Sans" pitchFamily="34" charset="-120"/>
              </a:rPr>
              <a:t>Results are set mostly </a:t>
            </a:r>
            <a:r>
              <a:rPr lang="en-US" sz="1400" b="1" dirty="0">
                <a:solidFill>
                  <a:srgbClr val="15151E"/>
                </a:solidFill>
                <a:latin typeface="Public Sans" pitchFamily="34" charset="0"/>
                <a:ea typeface="Public Sans" pitchFamily="34" charset="-122"/>
                <a:cs typeface="Public Sans" pitchFamily="34" charset="-120"/>
              </a:rPr>
              <a:t>before the lights go out</a:t>
            </a:r>
            <a:r>
              <a:rPr lang="en-US" sz="1400" dirty="0">
                <a:solidFill>
                  <a:srgbClr val="3D4250"/>
                </a:solidFill>
                <a:latin typeface="Public Sans" pitchFamily="34" charset="0"/>
                <a:ea typeface="Public Sans" pitchFamily="34" charset="-122"/>
                <a:cs typeface="Public Sans" pitchFamily="34" charset="-120"/>
              </a:rPr>
              <a:t>: by the car a team builds and where it qualifies.</a:t>
            </a:r>
            <a:endParaRPr lang="en-US" sz="1400" dirty="0"/>
          </a:p>
        </p:txBody>
      </p:sp>
      <p:sp>
        <p:nvSpPr>
          <p:cNvPr id="6" name="Text 4"/>
          <p:cNvSpPr/>
          <p:nvPr/>
        </p:nvSpPr>
        <p:spPr>
          <a:xfrm>
            <a:off x="812800" y="3004821"/>
            <a:ext cx="4996942"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250"/>
                </a:solidFill>
                <a:latin typeface="Public Sans" pitchFamily="34" charset="0"/>
                <a:ea typeface="Public Sans" pitchFamily="34" charset="-122"/>
                <a:cs typeface="Public Sans" pitchFamily="34" charset="-120"/>
              </a:rPr>
              <a:t>Tests </a:t>
            </a:r>
            <a:r>
              <a:rPr lang="en-US" sz="1400" b="1" dirty="0">
                <a:solidFill>
                  <a:srgbClr val="15151E"/>
                </a:solidFill>
                <a:latin typeface="Public Sans" pitchFamily="34" charset="0"/>
                <a:ea typeface="Public Sans" pitchFamily="34" charset="-122"/>
                <a:cs typeface="Public Sans" pitchFamily="34" charset="-120"/>
              </a:rPr>
              <a:t>confirmed</a:t>
            </a:r>
            <a:r>
              <a:rPr lang="en-US" sz="1400" dirty="0">
                <a:solidFill>
                  <a:srgbClr val="3D4250"/>
                </a:solidFill>
                <a:latin typeface="Public Sans" pitchFamily="34" charset="0"/>
                <a:ea typeface="Public Sans" pitchFamily="34" charset="-122"/>
                <a:cs typeface="Public Sans" pitchFamily="34" charset="-120"/>
              </a:rPr>
              <a:t> car dominance, the reliability revolution and rising dominance, and </a:t>
            </a:r>
            <a:r>
              <a:rPr lang="en-US" sz="1400" b="1" dirty="0">
                <a:solidFill>
                  <a:srgbClr val="15151E"/>
                </a:solidFill>
                <a:latin typeface="Public Sans" pitchFamily="34" charset="0"/>
                <a:ea typeface="Public Sans" pitchFamily="34" charset="-122"/>
                <a:cs typeface="Public Sans" pitchFamily="34" charset="-120"/>
              </a:rPr>
              <a:t>rejected</a:t>
            </a:r>
            <a:r>
              <a:rPr lang="en-US" sz="1400" dirty="0">
                <a:solidFill>
                  <a:srgbClr val="3D4250"/>
                </a:solidFill>
                <a:latin typeface="Public Sans" pitchFamily="34" charset="0"/>
                <a:ea typeface="Public Sans" pitchFamily="34" charset="-122"/>
                <a:cs typeface="Public Sans" pitchFamily="34" charset="-120"/>
              </a:rPr>
              <a:t> home advantage and a hybrid-era pole premium.</a:t>
            </a:r>
            <a:endParaRPr lang="en-US" sz="1400" dirty="0"/>
          </a:p>
        </p:txBody>
      </p:sp>
      <p:sp>
        <p:nvSpPr>
          <p:cNvPr id="7" name="Text 5"/>
          <p:cNvSpPr/>
          <p:nvPr/>
        </p:nvSpPr>
        <p:spPr>
          <a:xfrm>
            <a:off x="812800" y="3930650"/>
            <a:ext cx="499694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250"/>
                </a:solidFill>
                <a:latin typeface="Public Sans" pitchFamily="34" charset="0"/>
                <a:ea typeface="Public Sans" pitchFamily="34" charset="-122"/>
                <a:cs typeface="Public Sans" pitchFamily="34" charset="-120"/>
              </a:rPr>
              <a:t>The regression predicts the finish within </a:t>
            </a:r>
            <a:r>
              <a:rPr lang="en-US" sz="1400" b="1" dirty="0">
                <a:solidFill>
                  <a:srgbClr val="15151E"/>
                </a:solidFill>
                <a:latin typeface="Public Sans" pitchFamily="34" charset="0"/>
                <a:ea typeface="Public Sans" pitchFamily="34" charset="-122"/>
                <a:cs typeface="Public Sans" pitchFamily="34" charset="-120"/>
              </a:rPr>
              <a:t>2.5 places</a:t>
            </a:r>
            <a:r>
              <a:rPr lang="en-US" sz="1400" dirty="0">
                <a:solidFill>
                  <a:srgbClr val="3D4250"/>
                </a:solidFill>
                <a:latin typeface="Public Sans" pitchFamily="34" charset="0"/>
                <a:ea typeface="Public Sans" pitchFamily="34" charset="-122"/>
                <a:cs typeface="Public Sans" pitchFamily="34" charset="-120"/>
              </a:rPr>
              <a:t>; about 35% of variation stays unpredictable.</a:t>
            </a:r>
            <a:endParaRPr lang="en-US" sz="1400" dirty="0"/>
          </a:p>
        </p:txBody>
      </p:sp>
      <p:sp>
        <p:nvSpPr>
          <p:cNvPr id="8" name="Shape 6"/>
          <p:cNvSpPr/>
          <p:nvPr/>
        </p:nvSpPr>
        <p:spPr>
          <a:xfrm>
            <a:off x="6019800" y="1910079"/>
            <a:ext cx="5359400" cy="2536190"/>
          </a:xfrm>
          <a:prstGeom prst="rect">
            <a:avLst/>
          </a:prstGeom>
          <a:solidFill>
            <a:srgbClr val="FFFFFF"/>
          </a:solidFill>
          <a:ln/>
        </p:spPr>
      </p:sp>
      <p:sp>
        <p:nvSpPr>
          <p:cNvPr id="9" name="Text 7"/>
          <p:cNvSpPr/>
          <p:nvPr/>
        </p:nvSpPr>
        <p:spPr>
          <a:xfrm>
            <a:off x="6273800" y="2138679"/>
            <a:ext cx="499694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E5F8A"/>
                </a:solidFill>
                <a:latin typeface="Oswald" pitchFamily="34" charset="0"/>
                <a:ea typeface="Oswald" pitchFamily="34" charset="-122"/>
                <a:cs typeface="Oswald" pitchFamily="34" charset="-120"/>
              </a:rPr>
              <a:t>LIMITATIONS</a:t>
            </a:r>
            <a:endParaRPr lang="en-US" sz="1800" dirty="0"/>
          </a:p>
        </p:txBody>
      </p:sp>
      <p:sp>
        <p:nvSpPr>
          <p:cNvPr id="10" name="Text 8"/>
          <p:cNvSpPr/>
          <p:nvPr/>
        </p:nvSpPr>
        <p:spPr>
          <a:xfrm>
            <a:off x="6302756" y="2540000"/>
            <a:ext cx="4962652" cy="1351280"/>
          </a:xfrm>
          <a:prstGeom prst="rect">
            <a:avLst/>
          </a:prstGeom>
          <a:noFill/>
          <a:ln/>
        </p:spPr>
        <p:txBody>
          <a:bodyPr wrap="square" lIns="0" tIns="0" rIns="0" bIns="0" rtlCol="0" anchor="t">
            <a:normAutofit/>
          </a:bodyPr>
          <a:lstStyle/>
          <a:p>
            <a:pPr algn="l" marL="148844" indent="-148844">
              <a:lnSpc>
                <a:spcPts val="1740"/>
              </a:lnSpc>
              <a:buSzPct val="100000"/>
              <a:buChar char="•"/>
            </a:pPr>
            <a:r>
              <a:rPr lang="en-US" sz="1200" dirty="0">
                <a:solidFill>
                  <a:srgbClr val="3D4250"/>
                </a:solidFill>
                <a:latin typeface="Public Sans" pitchFamily="34" charset="0"/>
                <a:ea typeface="Public Sans" pitchFamily="34" charset="-122"/>
                <a:cs typeface="Public Sans" pitchFamily="34" charset="-120"/>
              </a:rPr>
              <a:t>Observational data: era A/B tests show association, not proven cause</a:t>
            </a:r>
            <a:endParaRPr lang="en-US" sz="1200" dirty="0"/>
          </a:p>
          <a:p>
            <a:pPr algn="l" marL="148844" indent="-148844">
              <a:lnSpc>
                <a:spcPts val="1740"/>
              </a:lnSpc>
              <a:buSzPct val="100000"/>
              <a:buChar char="•"/>
            </a:pPr>
            <a:r>
              <a:rPr lang="en-US" sz="1200" dirty="0">
                <a:solidFill>
                  <a:srgbClr val="3D4250"/>
                </a:solidFill>
                <a:latin typeface="Public Sans" pitchFamily="34" charset="0"/>
                <a:ea typeface="Public Sans" pitchFamily="34" charset="-122"/>
                <a:cs typeface="Public Sans" pitchFamily="34" charset="-120"/>
              </a:rPr>
              <a:t>Top drivers join top teams, so the car's 60% is an upper bound</a:t>
            </a:r>
            <a:endParaRPr lang="en-US" sz="1200" dirty="0"/>
          </a:p>
          <a:p>
            <a:pPr algn="l" marL="148844" indent="-148844">
              <a:lnSpc>
                <a:spcPts val="1740"/>
              </a:lnSpc>
              <a:buSzPct val="100000"/>
              <a:buChar char="•"/>
            </a:pPr>
            <a:r>
              <a:rPr lang="en-US" sz="1200" dirty="0">
                <a:solidFill>
                  <a:srgbClr val="3D4250"/>
                </a:solidFill>
                <a:latin typeface="Public Sans" pitchFamily="34" charset="0"/>
                <a:ea typeface="Public Sans" pitchFamily="34" charset="-122"/>
                <a:cs typeface="Public Sans" pitchFamily="34" charset="-120"/>
              </a:rPr>
              <a:t>No weather, safety-car or tyre data in the source</a:t>
            </a:r>
            <a:endParaRPr lang="en-US" sz="1200" dirty="0"/>
          </a:p>
          <a:p>
            <a:pPr algn="l" marL="148844" indent="-148844">
              <a:lnSpc>
                <a:spcPts val="1740"/>
              </a:lnSpc>
              <a:buSzPct val="100000"/>
              <a:buChar char="•"/>
            </a:pPr>
            <a:r>
              <a:rPr lang="en-US" sz="1200" dirty="0">
                <a:solidFill>
                  <a:srgbClr val="3D4250"/>
                </a:solidFill>
                <a:latin typeface="Public Sans" pitchFamily="34" charset="0"/>
                <a:ea typeface="Public Sans" pitchFamily="34" charset="-122"/>
                <a:cs typeface="Public Sans" pitchFamily="34" charset="-120"/>
              </a:rPr>
              <a:t>Pit data only from 2011, and total pit-lane time only</a:t>
            </a:r>
            <a:endParaRPr lang="en-US" sz="1200" dirty="0"/>
          </a:p>
          <a:p>
            <a:pPr algn="l" marL="148844" indent="-148844">
              <a:lnSpc>
                <a:spcPts val="1740"/>
              </a:lnSpc>
              <a:buSzPct val="100000"/>
              <a:buChar char="•"/>
            </a:pPr>
            <a:r>
              <a:rPr lang="en-US" sz="1200" dirty="0">
                <a:solidFill>
                  <a:srgbClr val="3D4250"/>
                </a:solidFill>
                <a:latin typeface="Public Sans" pitchFamily="34" charset="0"/>
                <a:ea typeface="Public Sans" pitchFamily="34" charset="-122"/>
                <a:cs typeface="Public Sans" pitchFamily="34" charset="-120"/>
              </a:rPr>
              <a:t>Small samples for single circuits and some nationalities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00500"/>
                </a:solidFill>
                <a:latin typeface="Public Sans" pitchFamily="34" charset="0"/>
                <a:ea typeface="Public Sans" pitchFamily="34" charset="-122"/>
                <a:cs typeface="Public Sans" pitchFamily="34" charset="-120"/>
              </a:rPr>
              <a:t>FUTURE ENHANCEMENT</a:t>
            </a:r>
            <a:endParaRPr lang="en-US" sz="1200" dirty="0"/>
          </a:p>
        </p:txBody>
      </p:sp>
      <p:sp>
        <p:nvSpPr>
          <p:cNvPr id="3" name="Text 1"/>
          <p:cNvSpPr/>
          <p:nvPr>
            <p:ph type="title"/>
          </p:nvPr>
        </p:nvSpPr>
        <p:spPr>
          <a:xfrm>
            <a:off x="812800" y="11023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51E"/>
                </a:solidFill>
                <a:latin typeface="Oswald" pitchFamily="34" charset="0"/>
                <a:ea typeface="Oswald" pitchFamily="34" charset="-122"/>
                <a:cs typeface="Oswald" pitchFamily="34" charset="-120"/>
              </a:rPr>
              <a:t>FROM ANALYSIS TO A LIVE RACE PREDICTOR</a:t>
            </a:r>
            <a:endParaRPr lang="en-US" sz="3600" dirty="0"/>
          </a:p>
        </p:txBody>
      </p:sp>
      <p:sp>
        <p:nvSpPr>
          <p:cNvPr id="4" name="Shape 2"/>
          <p:cNvSpPr/>
          <p:nvPr/>
        </p:nvSpPr>
        <p:spPr>
          <a:xfrm>
            <a:off x="812800" y="1910079"/>
            <a:ext cx="3420507" cy="1640840"/>
          </a:xfrm>
          <a:prstGeom prst="rect">
            <a:avLst/>
          </a:prstGeom>
          <a:solidFill>
            <a:srgbClr val="FFFFFF"/>
          </a:solidFill>
          <a:ln/>
        </p:spPr>
      </p:sp>
      <p:pic>
        <p:nvPicPr>
          <p:cNvPr id="5" name="Image 0" descr="Cloud">    </p:cNvPr>
          <p:cNvPicPr>
            <a:picLocks noChangeAspect="1"/>
          </p:cNvPicPr>
          <p:nvPr/>
        </p:nvPicPr>
        <p:blipFill>
          <a:blip r:embed="rId1"/>
          <a:srcRect l="0" r="0" t="0" b="0"/>
          <a:stretch/>
        </p:blipFill>
        <p:spPr>
          <a:xfrm>
            <a:off x="1016000" y="2113279"/>
            <a:ext cx="355600" cy="355600"/>
          </a:xfrm>
          <a:prstGeom prst="rect">
            <a:avLst/>
          </a:prstGeom>
        </p:spPr>
      </p:pic>
      <p:sp>
        <p:nvSpPr>
          <p:cNvPr id="6" name="Text 3"/>
          <p:cNvSpPr/>
          <p:nvPr/>
        </p:nvSpPr>
        <p:spPr>
          <a:xfrm>
            <a:off x="1016000" y="2557779"/>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RICHER DATA</a:t>
            </a:r>
            <a:endParaRPr lang="en-US" sz="1800" dirty="0"/>
          </a:p>
        </p:txBody>
      </p:sp>
      <p:sp>
        <p:nvSpPr>
          <p:cNvPr id="7" name="Text 4"/>
          <p:cNvSpPr/>
          <p:nvPr/>
        </p:nvSpPr>
        <p:spPr>
          <a:xfrm>
            <a:off x="1016000" y="2921000"/>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Weather, safety cars and tyres via the FastF1 telemetry library</a:t>
            </a:r>
            <a:endParaRPr lang="en-US" sz="1200" dirty="0"/>
          </a:p>
        </p:txBody>
      </p:sp>
      <p:sp>
        <p:nvSpPr>
          <p:cNvPr id="8" name="Shape 5"/>
          <p:cNvSpPr/>
          <p:nvPr/>
        </p:nvSpPr>
        <p:spPr>
          <a:xfrm>
            <a:off x="4385707" y="1910079"/>
            <a:ext cx="3420507" cy="1640840"/>
          </a:xfrm>
          <a:prstGeom prst="rect">
            <a:avLst/>
          </a:prstGeom>
          <a:solidFill>
            <a:srgbClr val="FFFFFF"/>
          </a:solidFill>
          <a:ln/>
        </p:spPr>
      </p:sp>
      <p:pic>
        <p:nvPicPr>
          <p:cNvPr id="9" name="Image 1" descr="Clock">    </p:cNvPr>
          <p:cNvPicPr>
            <a:picLocks noChangeAspect="1"/>
          </p:cNvPicPr>
          <p:nvPr/>
        </p:nvPicPr>
        <p:blipFill>
          <a:blip r:embed="rId2"/>
          <a:srcRect l="0" r="0" t="0" b="0"/>
          <a:stretch/>
        </p:blipFill>
        <p:spPr>
          <a:xfrm>
            <a:off x="4588907" y="2113279"/>
            <a:ext cx="355600" cy="355600"/>
          </a:xfrm>
          <a:prstGeom prst="rect">
            <a:avLst/>
          </a:prstGeom>
        </p:spPr>
      </p:pic>
      <p:sp>
        <p:nvSpPr>
          <p:cNvPr id="10" name="Text 6"/>
          <p:cNvSpPr/>
          <p:nvPr/>
        </p:nvSpPr>
        <p:spPr>
          <a:xfrm>
            <a:off x="4588907" y="2557779"/>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LAP-TIME PACE</a:t>
            </a:r>
            <a:endParaRPr lang="en-US" sz="1800" dirty="0"/>
          </a:p>
        </p:txBody>
      </p:sp>
      <p:sp>
        <p:nvSpPr>
          <p:cNvPr id="11" name="Text 7"/>
          <p:cNvSpPr/>
          <p:nvPr/>
        </p:nvSpPr>
        <p:spPr>
          <a:xfrm>
            <a:off x="4588907" y="2921000"/>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Gap to pole in seconds instead of grid rank as the pace measure</a:t>
            </a:r>
            <a:endParaRPr lang="en-US" sz="1200" dirty="0"/>
          </a:p>
        </p:txBody>
      </p:sp>
      <p:sp>
        <p:nvSpPr>
          <p:cNvPr id="12" name="Shape 8"/>
          <p:cNvSpPr/>
          <p:nvPr/>
        </p:nvSpPr>
        <p:spPr>
          <a:xfrm>
            <a:off x="7958614" y="1910079"/>
            <a:ext cx="3420507" cy="1640840"/>
          </a:xfrm>
          <a:prstGeom prst="rect">
            <a:avLst/>
          </a:prstGeom>
          <a:solidFill>
            <a:srgbClr val="FFFFFF"/>
          </a:solidFill>
          <a:ln/>
        </p:spPr>
      </p:sp>
      <p:pic>
        <p:nvPicPr>
          <p:cNvPr id="13" name="Image 2" descr="Chart">    </p:cNvPr>
          <p:cNvPicPr>
            <a:picLocks noChangeAspect="1"/>
          </p:cNvPicPr>
          <p:nvPr/>
        </p:nvPicPr>
        <p:blipFill>
          <a:blip r:embed="rId3"/>
          <a:srcRect l="0" r="0" t="0" b="0"/>
          <a:stretch/>
        </p:blipFill>
        <p:spPr>
          <a:xfrm>
            <a:off x="8161814" y="2113279"/>
            <a:ext cx="355600" cy="355600"/>
          </a:xfrm>
          <a:prstGeom prst="rect">
            <a:avLst/>
          </a:prstGeom>
        </p:spPr>
      </p:pic>
      <p:sp>
        <p:nvSpPr>
          <p:cNvPr id="14" name="Text 9"/>
          <p:cNvSpPr/>
          <p:nvPr/>
        </p:nvSpPr>
        <p:spPr>
          <a:xfrm>
            <a:off x="8161814" y="2557779"/>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RANKING MODELS</a:t>
            </a:r>
            <a:endParaRPr lang="en-US" sz="1800" dirty="0"/>
          </a:p>
        </p:txBody>
      </p:sp>
      <p:sp>
        <p:nvSpPr>
          <p:cNvPr id="15" name="Text 10"/>
          <p:cNvSpPr/>
          <p:nvPr/>
        </p:nvSpPr>
        <p:spPr>
          <a:xfrm>
            <a:off x="8161814" y="2921000"/>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Ordered logit plus a retirement-risk classifier for a full race simulator</a:t>
            </a:r>
            <a:endParaRPr lang="en-US" sz="1200" dirty="0"/>
          </a:p>
        </p:txBody>
      </p:sp>
      <p:sp>
        <p:nvSpPr>
          <p:cNvPr id="16" name="Shape 11"/>
          <p:cNvSpPr/>
          <p:nvPr/>
        </p:nvSpPr>
        <p:spPr>
          <a:xfrm>
            <a:off x="812800" y="3703321"/>
            <a:ext cx="3420507" cy="1640840"/>
          </a:xfrm>
          <a:prstGeom prst="rect">
            <a:avLst/>
          </a:prstGeom>
          <a:solidFill>
            <a:srgbClr val="FFFFFF"/>
          </a:solidFill>
          <a:ln/>
        </p:spPr>
      </p:sp>
      <p:pic>
        <p:nvPicPr>
          <p:cNvPr id="17" name="Image 3" descr="Star">    </p:cNvPr>
          <p:cNvPicPr>
            <a:picLocks noChangeAspect="1"/>
          </p:cNvPicPr>
          <p:nvPr/>
        </p:nvPicPr>
        <p:blipFill>
          <a:blip r:embed="rId4"/>
          <a:srcRect l="0" r="0" t="0" b="0"/>
          <a:stretch/>
        </p:blipFill>
        <p:spPr>
          <a:xfrm>
            <a:off x="1016000" y="3906521"/>
            <a:ext cx="355600" cy="355600"/>
          </a:xfrm>
          <a:prstGeom prst="rect">
            <a:avLst/>
          </a:prstGeom>
        </p:spPr>
      </p:pic>
      <p:sp>
        <p:nvSpPr>
          <p:cNvPr id="18" name="Text 12"/>
          <p:cNvSpPr/>
          <p:nvPr/>
        </p:nvSpPr>
        <p:spPr>
          <a:xfrm>
            <a:off x="1016000" y="43510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ALL-TIME RATINGS</a:t>
            </a:r>
            <a:endParaRPr lang="en-US" sz="1800" dirty="0"/>
          </a:p>
        </p:txBody>
      </p:sp>
      <p:sp>
        <p:nvSpPr>
          <p:cNvPr id="19" name="Text 13"/>
          <p:cNvSpPr/>
          <p:nvPr/>
        </p:nvSpPr>
        <p:spPr>
          <a:xfrm>
            <a:off x="1016000" y="4714242"/>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Extend the teammate model into an era-adjusted, Elo-style driver rating</a:t>
            </a:r>
            <a:endParaRPr lang="en-US" sz="1200" dirty="0"/>
          </a:p>
        </p:txBody>
      </p:sp>
      <p:sp>
        <p:nvSpPr>
          <p:cNvPr id="20" name="Shape 14"/>
          <p:cNvSpPr/>
          <p:nvPr/>
        </p:nvSpPr>
        <p:spPr>
          <a:xfrm>
            <a:off x="4385707" y="3703321"/>
            <a:ext cx="3420507" cy="1640840"/>
          </a:xfrm>
          <a:prstGeom prst="rect">
            <a:avLst/>
          </a:prstGeom>
          <a:solidFill>
            <a:srgbClr val="FFFFFF"/>
          </a:solidFill>
          <a:ln/>
        </p:spPr>
      </p:sp>
      <p:pic>
        <p:nvPicPr>
          <p:cNvPr id="21" name="Image 4" descr="Search">    </p:cNvPr>
          <p:cNvPicPr>
            <a:picLocks noChangeAspect="1"/>
          </p:cNvPicPr>
          <p:nvPr/>
        </p:nvPicPr>
        <p:blipFill>
          <a:blip r:embed="rId5"/>
          <a:srcRect l="0" r="0" t="0" b="0"/>
          <a:stretch/>
        </p:blipFill>
        <p:spPr>
          <a:xfrm>
            <a:off x="4588907" y="3906521"/>
            <a:ext cx="355600" cy="355600"/>
          </a:xfrm>
          <a:prstGeom prst="rect">
            <a:avLst/>
          </a:prstGeom>
        </p:spPr>
      </p:pic>
      <p:sp>
        <p:nvSpPr>
          <p:cNvPr id="22" name="Text 15"/>
          <p:cNvSpPr/>
          <p:nvPr/>
        </p:nvSpPr>
        <p:spPr>
          <a:xfrm>
            <a:off x="4588907" y="43510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CAUSAL METHODS</a:t>
            </a:r>
            <a:endParaRPr lang="en-US" sz="1800" dirty="0"/>
          </a:p>
        </p:txBody>
      </p:sp>
      <p:sp>
        <p:nvSpPr>
          <p:cNvPr id="23" name="Text 16"/>
          <p:cNvSpPr/>
          <p:nvPr/>
        </p:nvSpPr>
        <p:spPr>
          <a:xfrm>
            <a:off x="4588907" y="4714242"/>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Difference-in-differences to measure regulation effects more rigorously</a:t>
            </a:r>
            <a:endParaRPr lang="en-US" sz="1200" dirty="0"/>
          </a:p>
        </p:txBody>
      </p:sp>
      <p:sp>
        <p:nvSpPr>
          <p:cNvPr id="24" name="Shape 17"/>
          <p:cNvSpPr/>
          <p:nvPr/>
        </p:nvSpPr>
        <p:spPr>
          <a:xfrm>
            <a:off x="7958614" y="3703321"/>
            <a:ext cx="3420507" cy="1640840"/>
          </a:xfrm>
          <a:prstGeom prst="rect">
            <a:avLst/>
          </a:prstGeom>
          <a:solidFill>
            <a:srgbClr val="FFFFFF"/>
          </a:solidFill>
          <a:ln/>
        </p:spPr>
      </p:sp>
      <p:pic>
        <p:nvPicPr>
          <p:cNvPr id="25" name="Image 5" descr="Lightning">    </p:cNvPr>
          <p:cNvPicPr>
            <a:picLocks noChangeAspect="1"/>
          </p:cNvPicPr>
          <p:nvPr/>
        </p:nvPicPr>
        <p:blipFill>
          <a:blip r:embed="rId6"/>
          <a:srcRect l="0" r="0" t="0" b="0"/>
          <a:stretch/>
        </p:blipFill>
        <p:spPr>
          <a:xfrm>
            <a:off x="8161814" y="3906521"/>
            <a:ext cx="355600" cy="355600"/>
          </a:xfrm>
          <a:prstGeom prst="rect">
            <a:avLst/>
          </a:prstGeom>
        </p:spPr>
      </p:pic>
      <p:sp>
        <p:nvSpPr>
          <p:cNvPr id="26" name="Text 18"/>
          <p:cNvSpPr/>
          <p:nvPr/>
        </p:nvSpPr>
        <p:spPr>
          <a:xfrm>
            <a:off x="8161814" y="43510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51E"/>
                </a:solidFill>
                <a:latin typeface="Oswald" pitchFamily="34" charset="0"/>
                <a:ea typeface="Oswald" pitchFamily="34" charset="-122"/>
                <a:cs typeface="Oswald" pitchFamily="34" charset="-120"/>
              </a:rPr>
              <a:t>LIVE FORECASTS</a:t>
            </a:r>
            <a:endParaRPr lang="en-US" sz="1800" dirty="0"/>
          </a:p>
        </p:txBody>
      </p:sp>
      <p:sp>
        <p:nvSpPr>
          <p:cNvPr id="27" name="Text 19"/>
          <p:cNvSpPr/>
          <p:nvPr/>
        </p:nvSpPr>
        <p:spPr>
          <a:xfrm>
            <a:off x="8161814" y="4714242"/>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250"/>
                </a:solidFill>
                <a:latin typeface="Public Sans" pitchFamily="34" charset="0"/>
                <a:ea typeface="Public Sans" pitchFamily="34" charset="-122"/>
                <a:cs typeface="Public Sans" pitchFamily="34" charset="-120"/>
              </a:rPr>
              <a:t>Update predictions after each qualifying session, with a Power BI dashboard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51E"/>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10600"/>
          </a:soli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5A4E"/>
                </a:solidFill>
                <a:latin typeface="Public Sans" pitchFamily="34" charset="0"/>
                <a:ea typeface="Public Sans" pitchFamily="34" charset="-122"/>
                <a:cs typeface="Public Sans" pitchFamily="34" charset="-120"/>
              </a:rPr>
              <a:t>REFERENCES AND DATASET SOURCE</a:t>
            </a:r>
            <a:endParaRPr lang="en-US" sz="1200" dirty="0"/>
          </a:p>
        </p:txBody>
      </p:sp>
      <p:sp>
        <p:nvSpPr>
          <p:cNvPr id="4" name="Text 2"/>
          <p:cNvSpPr/>
          <p:nvPr/>
        </p:nvSpPr>
        <p:spPr>
          <a:xfrm>
            <a:off x="812800" y="11023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4F3EF"/>
                </a:solidFill>
                <a:latin typeface="Oswald" pitchFamily="34" charset="0"/>
                <a:ea typeface="Oswald" pitchFamily="34" charset="-122"/>
                <a:cs typeface="Oswald" pitchFamily="34" charset="-120"/>
              </a:rPr>
              <a:t>SOURCES</a:t>
            </a:r>
            <a:endParaRPr lang="en-US" sz="3600" dirty="0"/>
          </a:p>
        </p:txBody>
      </p:sp>
      <p:sp>
        <p:nvSpPr>
          <p:cNvPr id="5" name="Text 3"/>
          <p:cNvSpPr/>
          <p:nvPr/>
        </p:nvSpPr>
        <p:spPr>
          <a:xfrm>
            <a:off x="826532" y="1808479"/>
            <a:ext cx="10863564" cy="1397000"/>
          </a:xfrm>
          <a:prstGeom prst="rect">
            <a:avLst/>
          </a:prstGeom>
          <a:noFill/>
          <a:ln/>
        </p:spPr>
        <p:txBody>
          <a:bodyPr wrap="square" lIns="0" tIns="0" rIns="0" bIns="0" rtlCol="0" anchor="t">
            <a:normAutofit/>
          </a:bodyPr>
          <a:lstStyle/>
          <a:p>
            <a:pPr algn="l" marL="189468" indent="-189468">
              <a:lnSpc>
                <a:spcPts val="1800"/>
              </a:lnSpc>
              <a:buSzPct val="100000"/>
              <a:buFontTx/>
              <a:buAutoNum type="arabicPeriod" startAt="1"/>
            </a:pPr>
            <a:r>
              <a:rPr lang="en-US" sz="1200" b="1" dirty="0">
                <a:solidFill>
                  <a:srgbClr val="F4F3EF"/>
                </a:solidFill>
                <a:latin typeface="Public Sans" pitchFamily="34" charset="0"/>
                <a:ea typeface="Public Sans" pitchFamily="34" charset="-122"/>
                <a:cs typeface="Public Sans" pitchFamily="34" charset="-120"/>
              </a:rPr>
              <a:t>Dataset:</a:t>
            </a:r>
            <a:r>
              <a:rPr lang="en-US" sz="1200" dirty="0">
                <a:solidFill>
                  <a:srgbClr val="C9CCD6"/>
                </a:solidFill>
                <a:latin typeface="Public Sans" pitchFamily="34" charset="0"/>
                <a:ea typeface="Public Sans" pitchFamily="34" charset="-122"/>
                <a:cs typeface="Public Sans" pitchFamily="34" charset="-120"/>
              </a:rPr>
              <a:t> Jolpica F1 open database (successor to the Ergast API), github.com/jolpica/jolpica-f1</a:t>
            </a:r>
            <a:endParaRPr lang="en-US" sz="1200" dirty="0"/>
          </a:p>
          <a:p>
            <a:pPr algn="l" marL="189468" indent="-189468">
              <a:lnSpc>
                <a:spcPts val="1800"/>
              </a:lnSpc>
              <a:buSzPct val="100000"/>
              <a:buFontTx/>
              <a:buAutoNum type="arabicPeriod" startAt="1"/>
            </a:pPr>
            <a:r>
              <a:rPr lang="en-US" sz="1200" dirty="0">
                <a:solidFill>
                  <a:srgbClr val="C9CCD6"/>
                </a:solidFill>
                <a:latin typeface="Public Sans" pitchFamily="34" charset="0"/>
                <a:ea typeface="Public Sans" pitchFamily="34" charset="-122"/>
                <a:cs typeface="Public Sans" pitchFamily="34" charset="-120"/>
              </a:rPr>
              <a:t>FIA Formula One Technical and Sporting Regulations (2014 power units; 2022 technical rules)</a:t>
            </a:r>
            <a:endParaRPr lang="en-US" sz="1200" dirty="0"/>
          </a:p>
          <a:p>
            <a:pPr algn="l" marL="189468" indent="-189468">
              <a:lnSpc>
                <a:spcPts val="1800"/>
              </a:lnSpc>
              <a:buSzPct val="100000"/>
              <a:buFontTx/>
              <a:buAutoNum type="arabicPeriod" startAt="1"/>
            </a:pPr>
            <a:r>
              <a:rPr lang="en-US" sz="1200" dirty="0">
                <a:solidFill>
                  <a:srgbClr val="C9CCD6"/>
                </a:solidFill>
                <a:latin typeface="Public Sans" pitchFamily="34" charset="0"/>
                <a:ea typeface="Public Sans" pitchFamily="34" charset="-122"/>
                <a:cs typeface="Public Sans" pitchFamily="34" charset="-120"/>
              </a:rPr>
              <a:t>U.S. DOJ and FTC, Merger Guidelines (2023): Herfindahl–Hirschman Index thresholds</a:t>
            </a:r>
            <a:endParaRPr lang="en-US" sz="1200" dirty="0"/>
          </a:p>
          <a:p>
            <a:pPr algn="l" marL="189468" indent="-189468">
              <a:lnSpc>
                <a:spcPts val="1800"/>
              </a:lnSpc>
              <a:buSzPct val="100000"/>
              <a:buFontTx/>
              <a:buAutoNum type="arabicPeriod" startAt="1"/>
            </a:pPr>
            <a:r>
              <a:rPr lang="en-US" sz="1200" dirty="0">
                <a:solidFill>
                  <a:srgbClr val="C9CCD6"/>
                </a:solidFill>
                <a:latin typeface="Public Sans" pitchFamily="34" charset="0"/>
                <a:ea typeface="Public Sans" pitchFamily="34" charset="-122"/>
                <a:cs typeface="Public Sans" pitchFamily="34" charset="-120"/>
              </a:rPr>
              <a:t>Bradley, R. A. and Terry, M. E. (1952). Rank analysis of incomplete block designs. Biometrika, 39, 324–345</a:t>
            </a:r>
            <a:endParaRPr lang="en-US" sz="1200" dirty="0"/>
          </a:p>
          <a:p>
            <a:pPr algn="l" marL="189468" indent="-189468">
              <a:lnSpc>
                <a:spcPts val="1800"/>
              </a:lnSpc>
              <a:buSzPct val="100000"/>
              <a:buFontTx/>
              <a:buAutoNum type="arabicPeriod" startAt="1"/>
            </a:pPr>
            <a:r>
              <a:rPr lang="en-US" sz="1200" dirty="0">
                <a:solidFill>
                  <a:srgbClr val="C9CCD6"/>
                </a:solidFill>
                <a:latin typeface="Public Sans" pitchFamily="34" charset="0"/>
                <a:ea typeface="Public Sans" pitchFamily="34" charset="-122"/>
                <a:cs typeface="Public Sans" pitchFamily="34" charset="-120"/>
              </a:rPr>
              <a:t>Cohen, J. (1988). Statistical Power Analysis for the Behavioral Sciences, 2nd ed.</a:t>
            </a:r>
            <a:endParaRPr lang="en-US" sz="1200" dirty="0"/>
          </a:p>
          <a:p>
            <a:pPr algn="l" marL="189468" indent="-189468">
              <a:lnSpc>
                <a:spcPts val="1800"/>
              </a:lnSpc>
              <a:buSzPct val="100000"/>
              <a:buFontTx/>
              <a:buAutoNum type="arabicPeriod" startAt="1"/>
            </a:pPr>
            <a:r>
              <a:rPr lang="en-US" sz="1200" dirty="0">
                <a:solidFill>
                  <a:srgbClr val="C9CCD6"/>
                </a:solidFill>
                <a:latin typeface="Public Sans" pitchFamily="34" charset="0"/>
                <a:ea typeface="Public Sans" pitchFamily="34" charset="-122"/>
                <a:cs typeface="Public Sans" pitchFamily="34" charset="-120"/>
              </a:rPr>
              <a:t>Seabold and Perktold (2010), statsmodels; Pedregosa et al. (2011), scikit-learn, JMLR 12</a:t>
            </a:r>
            <a:endParaRPr lang="en-US" sz="1200" dirty="0"/>
          </a:p>
        </p:txBody>
      </p:sp>
      <p:sp>
        <p:nvSpPr>
          <p:cNvPr id="6" name="Text 4"/>
          <p:cNvSpPr/>
          <p:nvPr>
            <p:ph type="title"/>
          </p:nvPr>
        </p:nvSpPr>
        <p:spPr>
          <a:xfrm>
            <a:off x="812800" y="5283200"/>
            <a:ext cx="4170712"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4F3EF"/>
                </a:solidFill>
                <a:latin typeface="Oswald" pitchFamily="34" charset="0"/>
                <a:ea typeface="Oswald" pitchFamily="34" charset="-122"/>
                <a:cs typeface="Oswald" pitchFamily="34" charset="-120"/>
              </a:rPr>
              <a:t>THANK YOU</a:t>
            </a:r>
            <a:endParaRPr lang="en-US" sz="6000" dirty="0"/>
          </a:p>
        </p:txBody>
      </p:sp>
      <p:sp>
        <p:nvSpPr>
          <p:cNvPr id="7" name="Text 5"/>
          <p:cNvSpPr/>
          <p:nvPr/>
        </p:nvSpPr>
        <p:spPr>
          <a:xfrm>
            <a:off x="7454900" y="5760721"/>
            <a:ext cx="3924300"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FF5A4E"/>
                </a:solidFill>
                <a:latin typeface="Public Sans" pitchFamily="34" charset="0"/>
                <a:ea typeface="Public Sans" pitchFamily="34" charset="-122"/>
                <a:cs typeface="Public Sans" pitchFamily="34" charset="-120"/>
              </a:rPr>
              <a:t>Questions welcome</a:t>
            </a:r>
            <a:endParaRPr lang="en-US" sz="1600" dirty="0"/>
          </a:p>
        </p:txBody>
      </p:sp>
    </p:spTree>
  </p:cSld>
  <p:clrMapOvr>
    <a:masterClrMapping/>
  </p:clrMapOvr>
</p:sld>
</file>

<file path=ppt/theme/theme1.xml><?xml version="1.0" encoding="utf-8"?>
<a:theme xmlns:a="http://schemas.openxmlformats.org/drawingml/2006/main" name="F1 Race Analytics – FODS Case Study">
  <a:themeElements>
    <a:clrScheme name="F1 Race Analytics – FODS Case Study">
      <a:dk1>
        <a:srgbClr val="15151E"/>
      </a:dk1>
      <a:lt1>
        <a:srgbClr val="F4F3EF"/>
      </a:lt1>
      <a:dk2>
        <a:srgbClr val="4D4D52"/>
      </a:dk2>
      <a:lt2>
        <a:srgbClr val="DEDDDA"/>
      </a:lt2>
      <a:accent1>
        <a:srgbClr val="FF5A4E"/>
      </a:accent1>
      <a:accent2>
        <a:srgbClr val="C00500"/>
      </a:accent2>
      <a:accent3>
        <a:srgbClr val="E10600"/>
      </a:accent3>
      <a:accent4>
        <a:srgbClr val="2E5F8A"/>
      </a:accent4>
      <a:accent5>
        <a:srgbClr val="9CC3E6"/>
      </a:accent5>
      <a:accent6>
        <a:srgbClr val="3D4250"/>
      </a:accent6>
      <a:hlink>
        <a:srgbClr val="0563C1"/>
      </a:hlink>
      <a:folHlink>
        <a:srgbClr val="954F72"/>
      </a:folHlink>
    </a:clrScheme>
    <a:fontScheme name="F1 Race Analytics – FODS Case Study">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 Race Analytics – FODS Case Study</dc:title>
  <dc:subject/>
  <dc:creator/>
  <cp:lastModifiedBy/>
  <cp:revision>1</cp:revision>
  <dcterms:created xsi:type="dcterms:W3CDTF">2026-10-10T20:21:09Z</dcterms:created>
  <dcterms:modified xsi:type="dcterms:W3CDTF">2026-10-10T20:21:09Z</dcterms:modified>
</cp:coreProperties>
</file>